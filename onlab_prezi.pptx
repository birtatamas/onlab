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3" r:id="rId1"/>
  </p:sldMasterIdLst>
  <p:notesMasterIdLst>
    <p:notesMasterId r:id="rId21"/>
  </p:notesMasterIdLst>
  <p:sldIdLst>
    <p:sldId id="256" r:id="rId2"/>
    <p:sldId id="316" r:id="rId3"/>
    <p:sldId id="306" r:id="rId4"/>
    <p:sldId id="307" r:id="rId5"/>
    <p:sldId id="259" r:id="rId6"/>
    <p:sldId id="308" r:id="rId7"/>
    <p:sldId id="260" r:id="rId8"/>
    <p:sldId id="261" r:id="rId9"/>
    <p:sldId id="309" r:id="rId10"/>
    <p:sldId id="311" r:id="rId11"/>
    <p:sldId id="262" r:id="rId12"/>
    <p:sldId id="263" r:id="rId13"/>
    <p:sldId id="310" r:id="rId14"/>
    <p:sldId id="313" r:id="rId15"/>
    <p:sldId id="312" r:id="rId16"/>
    <p:sldId id="314" r:id="rId17"/>
    <p:sldId id="315" r:id="rId18"/>
    <p:sldId id="264" r:id="rId19"/>
    <p:sldId id="267" r:id="rId20"/>
  </p:sldIdLst>
  <p:sldSz cx="9144000" cy="5143500" type="screen16x9"/>
  <p:notesSz cx="6858000" cy="9144000"/>
  <p:embeddedFontLst>
    <p:embeddedFont>
      <p:font typeface="Andale Mono" panose="020B0509000000000004" pitchFamily="49" charset="0"/>
      <p:regular r:id="rId22"/>
    </p:embeddedFont>
    <p:embeddedFont>
      <p:font typeface="Montserrat" pitchFamily="2" charset="0"/>
      <p:regular r:id="rId23"/>
      <p:bold r:id="rId24"/>
      <p:italic r:id="rId25"/>
      <p:boldItalic r:id="rId26"/>
    </p:embeddedFont>
    <p:embeddedFont>
      <p:font typeface="Montserrat ExtraBold" panose="00000900000000000000" pitchFamily="2" charset="0"/>
      <p:bold r:id="rId27"/>
      <p:italic r:id="rId28"/>
      <p:boldItalic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FD1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EC55A3A-12E4-4EAA-9F97-E1828BEF49D7}">
  <a:tblStyle styleId="{5EC55A3A-12E4-4EAA-9F97-E1828BEF49D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530"/>
    <p:restoredTop sz="94666"/>
  </p:normalViewPr>
  <p:slideViewPr>
    <p:cSldViewPr snapToGrid="0">
      <p:cViewPr varScale="1">
        <p:scale>
          <a:sx n="128" d="100"/>
          <a:sy n="128" d="100"/>
        </p:scale>
        <p:origin x="168" y="3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1">
          <a:extLst>
            <a:ext uri="{FF2B5EF4-FFF2-40B4-BE49-F238E27FC236}">
              <a16:creationId xmlns:a16="http://schemas.microsoft.com/office/drawing/2014/main" id="{A3B657AB-04F1-C621-47EC-CD544E32B7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2" name="Google Shape;1952;g7f9262ee2f_0_26105:notes">
            <a:extLst>
              <a:ext uri="{FF2B5EF4-FFF2-40B4-BE49-F238E27FC236}">
                <a16:creationId xmlns:a16="http://schemas.microsoft.com/office/drawing/2014/main" id="{22061D19-34B3-7C6E-72DB-0F667CB6311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3" name="Google Shape;1953;g7f9262ee2f_0_26105:notes">
            <a:extLst>
              <a:ext uri="{FF2B5EF4-FFF2-40B4-BE49-F238E27FC236}">
                <a16:creationId xmlns:a16="http://schemas.microsoft.com/office/drawing/2014/main" id="{56FA2A22-1A29-8AC8-B8B2-5797240FCE9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577102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>
          <a:extLst>
            <a:ext uri="{FF2B5EF4-FFF2-40B4-BE49-F238E27FC236}">
              <a16:creationId xmlns:a16="http://schemas.microsoft.com/office/drawing/2014/main" id="{5DA1920C-709C-E6FF-F3D8-9C11F78601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7f9262ee2f_0_18:notes">
            <a:extLst>
              <a:ext uri="{FF2B5EF4-FFF2-40B4-BE49-F238E27FC236}">
                <a16:creationId xmlns:a16="http://schemas.microsoft.com/office/drawing/2014/main" id="{E5352A40-9E74-1D83-160F-A393331BA2D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7f9262ee2f_0_18:notes">
            <a:extLst>
              <a:ext uri="{FF2B5EF4-FFF2-40B4-BE49-F238E27FC236}">
                <a16:creationId xmlns:a16="http://schemas.microsoft.com/office/drawing/2014/main" id="{76548F6A-E7A6-5FA7-4A17-2C276067D0D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54480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7290233416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7290233416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>
          <a:extLst>
            <a:ext uri="{FF2B5EF4-FFF2-40B4-BE49-F238E27FC236}">
              <a16:creationId xmlns:a16="http://schemas.microsoft.com/office/drawing/2014/main" id="{2AAA8C56-2E03-5F27-4D5C-44EBCCC70E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7290233416_0_7:notes">
            <a:extLst>
              <a:ext uri="{FF2B5EF4-FFF2-40B4-BE49-F238E27FC236}">
                <a16:creationId xmlns:a16="http://schemas.microsoft.com/office/drawing/2014/main" id="{A7C9E74A-32F4-44E6-001F-535FAFDB798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7290233416_0_7:notes">
            <a:extLst>
              <a:ext uri="{FF2B5EF4-FFF2-40B4-BE49-F238E27FC236}">
                <a16:creationId xmlns:a16="http://schemas.microsoft.com/office/drawing/2014/main" id="{318401A4-F2BF-BFDB-B777-4DDB6759F2F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920066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7290233416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7290233416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7f9262ee2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7f9262ee2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>
          <a:extLst>
            <a:ext uri="{FF2B5EF4-FFF2-40B4-BE49-F238E27FC236}">
              <a16:creationId xmlns:a16="http://schemas.microsoft.com/office/drawing/2014/main" id="{3B5C0AF2-31FB-7210-04CF-0302C494F4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7290233416_0_12:notes">
            <a:extLst>
              <a:ext uri="{FF2B5EF4-FFF2-40B4-BE49-F238E27FC236}">
                <a16:creationId xmlns:a16="http://schemas.microsoft.com/office/drawing/2014/main" id="{01C01CED-5CE7-FA40-D125-DC7AFEC3310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7290233416_0_12:notes">
            <a:extLst>
              <a:ext uri="{FF2B5EF4-FFF2-40B4-BE49-F238E27FC236}">
                <a16:creationId xmlns:a16="http://schemas.microsoft.com/office/drawing/2014/main" id="{9FB01798-F310-90B3-958A-3DFEF3F4530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5310200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7290233416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7290233416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7f9262ee2f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7f9262ee2f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8">
          <a:extLst>
            <a:ext uri="{FF2B5EF4-FFF2-40B4-BE49-F238E27FC236}">
              <a16:creationId xmlns:a16="http://schemas.microsoft.com/office/drawing/2014/main" id="{19617715-EBD6-13CA-81A2-CF1160F1BC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9" name="Google Shape;2049;g7f9262ee2f_0_26301:notes">
            <a:extLst>
              <a:ext uri="{FF2B5EF4-FFF2-40B4-BE49-F238E27FC236}">
                <a16:creationId xmlns:a16="http://schemas.microsoft.com/office/drawing/2014/main" id="{D687FEE4-5967-F195-4030-055F342CA7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0" name="Google Shape;2050;g7f9262ee2f_0_26301:notes">
            <a:extLst>
              <a:ext uri="{FF2B5EF4-FFF2-40B4-BE49-F238E27FC236}">
                <a16:creationId xmlns:a16="http://schemas.microsoft.com/office/drawing/2014/main" id="{E16C390D-06FB-A9C5-540B-F2FEEB9EFE7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7066638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7f9262ee2f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7f9262ee2f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7f9262ee2f_0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g7f9262ee2f_0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2175900" y="1950100"/>
            <a:ext cx="4792200" cy="644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2044200" y="3704650"/>
            <a:ext cx="5055600" cy="4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title"/>
          </p:nvPr>
        </p:nvSpPr>
        <p:spPr>
          <a:xfrm>
            <a:off x="3762670" y="3177750"/>
            <a:ext cx="3068700" cy="59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title" idx="2" hasCustomPrompt="1"/>
          </p:nvPr>
        </p:nvSpPr>
        <p:spPr>
          <a:xfrm>
            <a:off x="1048270" y="3287500"/>
            <a:ext cx="2412900" cy="931500"/>
          </a:xfrm>
          <a:prstGeom prst="rect">
            <a:avLst/>
          </a:prstGeom>
          <a:effectLst>
            <a:outerShdw blurRad="114300" dist="28575" dir="6360000" algn="bl" rotWithShape="0">
              <a:schemeClr val="accent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4" name="Google Shape;14;p3"/>
          <p:cNvSpPr txBox="1">
            <a:spLocks noGrp="1"/>
          </p:cNvSpPr>
          <p:nvPr>
            <p:ph type="subTitle" idx="1"/>
          </p:nvPr>
        </p:nvSpPr>
        <p:spPr>
          <a:xfrm>
            <a:off x="3762670" y="3720650"/>
            <a:ext cx="3068700" cy="4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>
            <a:spLocks noGrp="1"/>
          </p:cNvSpPr>
          <p:nvPr>
            <p:ph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7" name="Google Shape;17;p4"/>
          <p:cNvSpPr txBox="1">
            <a:spLocks noGrp="1"/>
          </p:cNvSpPr>
          <p:nvPr>
            <p:ph type="body" idx="1"/>
          </p:nvPr>
        </p:nvSpPr>
        <p:spPr>
          <a:xfrm>
            <a:off x="938500" y="1659275"/>
            <a:ext cx="4946400" cy="276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>
            <a:spLocks noGrp="1"/>
          </p:cNvSpPr>
          <p:nvPr>
            <p:ph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body" idx="1"/>
          </p:nvPr>
        </p:nvSpPr>
        <p:spPr>
          <a:xfrm>
            <a:off x="938500" y="1659275"/>
            <a:ext cx="3186900" cy="276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body" idx="2"/>
          </p:nvPr>
        </p:nvSpPr>
        <p:spPr>
          <a:xfrm>
            <a:off x="5037525" y="1659275"/>
            <a:ext cx="3186900" cy="276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>
            <a:spLocks noGrp="1"/>
          </p:cNvSpPr>
          <p:nvPr>
            <p:ph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Text">
  <p:cSld name="TITLE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/>
          <p:cNvSpPr txBox="1">
            <a:spLocks noGrp="1"/>
          </p:cNvSpPr>
          <p:nvPr>
            <p:ph type="ctrTitle"/>
          </p:nvPr>
        </p:nvSpPr>
        <p:spPr>
          <a:xfrm>
            <a:off x="4285500" y="2832875"/>
            <a:ext cx="3657300" cy="644700"/>
          </a:xfrm>
          <a:prstGeom prst="rect">
            <a:avLst/>
          </a:prstGeom>
          <a:effectLst>
            <a:outerShdw blurRad="57150" dist="19050" dir="5400000" algn="bl" rotWithShape="0">
              <a:srgbClr val="76A5AF">
                <a:alpha val="88000"/>
              </a:srgbClr>
            </a:outerShdw>
          </a:effectLst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 b="1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6" name="Google Shape;56;p15"/>
          <p:cNvSpPr txBox="1">
            <a:spLocks noGrp="1"/>
          </p:cNvSpPr>
          <p:nvPr>
            <p:ph type="subTitle" idx="1"/>
          </p:nvPr>
        </p:nvSpPr>
        <p:spPr>
          <a:xfrm>
            <a:off x="4144050" y="3549850"/>
            <a:ext cx="3940200" cy="4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TITLE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6"/>
          <p:cNvSpPr txBox="1">
            <a:spLocks noGrp="1"/>
          </p:cNvSpPr>
          <p:nvPr>
            <p:ph type="ctrTitle"/>
          </p:nvPr>
        </p:nvSpPr>
        <p:spPr>
          <a:xfrm>
            <a:off x="1850525" y="1157925"/>
            <a:ext cx="5442900" cy="260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 b="1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 b="1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 b="1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 b="1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 b="1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 b="1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 b="1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 b="1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 b="1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9" name="Google Shape;59;p16"/>
          <p:cNvSpPr txBox="1">
            <a:spLocks noGrp="1"/>
          </p:cNvSpPr>
          <p:nvPr>
            <p:ph type="subTitle" idx="1"/>
          </p:nvPr>
        </p:nvSpPr>
        <p:spPr>
          <a:xfrm>
            <a:off x="2481900" y="3945600"/>
            <a:ext cx="4180200" cy="4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wo Columns">
  <p:cSld name="SECTION_TITLE_AND_DESCRIPTION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7"/>
          <p:cNvSpPr txBox="1">
            <a:spLocks noGrp="1"/>
          </p:cNvSpPr>
          <p:nvPr>
            <p:ph type="title"/>
          </p:nvPr>
        </p:nvSpPr>
        <p:spPr>
          <a:xfrm>
            <a:off x="1937338" y="2463175"/>
            <a:ext cx="2390100" cy="54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2" name="Google Shape;62;p17"/>
          <p:cNvSpPr txBox="1">
            <a:spLocks noGrp="1"/>
          </p:cNvSpPr>
          <p:nvPr>
            <p:ph type="subTitle" idx="1"/>
          </p:nvPr>
        </p:nvSpPr>
        <p:spPr>
          <a:xfrm>
            <a:off x="1937338" y="3148075"/>
            <a:ext cx="23901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3" name="Google Shape;63;p17"/>
          <p:cNvSpPr txBox="1">
            <a:spLocks noGrp="1"/>
          </p:cNvSpPr>
          <p:nvPr>
            <p:ph type="title" idx="2"/>
          </p:nvPr>
        </p:nvSpPr>
        <p:spPr>
          <a:xfrm>
            <a:off x="4816563" y="2463175"/>
            <a:ext cx="2390100" cy="54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4" name="Google Shape;64;p17"/>
          <p:cNvSpPr txBox="1">
            <a:spLocks noGrp="1"/>
          </p:cNvSpPr>
          <p:nvPr>
            <p:ph type="subTitle" idx="3"/>
          </p:nvPr>
        </p:nvSpPr>
        <p:spPr>
          <a:xfrm>
            <a:off x="4816563" y="3148075"/>
            <a:ext cx="23901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5" name="Google Shape;65;p17"/>
          <p:cNvSpPr txBox="1">
            <a:spLocks noGrp="1"/>
          </p:cNvSpPr>
          <p:nvPr>
            <p:ph type="title" idx="4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hree Columns ">
  <p:cSld name="SECTION_TITLE_AND_DESCRIPTION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8"/>
          <p:cNvSpPr txBox="1">
            <a:spLocks noGrp="1"/>
          </p:cNvSpPr>
          <p:nvPr>
            <p:ph type="title"/>
          </p:nvPr>
        </p:nvSpPr>
        <p:spPr>
          <a:xfrm>
            <a:off x="3538497" y="2767975"/>
            <a:ext cx="2067000" cy="54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8" name="Google Shape;68;p18"/>
          <p:cNvSpPr txBox="1">
            <a:spLocks noGrp="1"/>
          </p:cNvSpPr>
          <p:nvPr>
            <p:ph type="subTitle" idx="1"/>
          </p:nvPr>
        </p:nvSpPr>
        <p:spPr>
          <a:xfrm>
            <a:off x="3538497" y="3452875"/>
            <a:ext cx="20670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9" name="Google Shape;69;p18"/>
          <p:cNvSpPr txBox="1">
            <a:spLocks noGrp="1"/>
          </p:cNvSpPr>
          <p:nvPr>
            <p:ph type="title" idx="2"/>
          </p:nvPr>
        </p:nvSpPr>
        <p:spPr>
          <a:xfrm>
            <a:off x="6028553" y="2767975"/>
            <a:ext cx="2067000" cy="54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0" name="Google Shape;70;p18"/>
          <p:cNvSpPr txBox="1">
            <a:spLocks noGrp="1"/>
          </p:cNvSpPr>
          <p:nvPr>
            <p:ph type="subTitle" idx="3"/>
          </p:nvPr>
        </p:nvSpPr>
        <p:spPr>
          <a:xfrm>
            <a:off x="6028553" y="3452875"/>
            <a:ext cx="20670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1" name="Google Shape;71;p18"/>
          <p:cNvSpPr txBox="1">
            <a:spLocks noGrp="1"/>
          </p:cNvSpPr>
          <p:nvPr>
            <p:ph type="title" idx="4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2" name="Google Shape;72;p18"/>
          <p:cNvSpPr txBox="1">
            <a:spLocks noGrp="1"/>
          </p:cNvSpPr>
          <p:nvPr>
            <p:ph type="title" idx="5"/>
          </p:nvPr>
        </p:nvSpPr>
        <p:spPr>
          <a:xfrm>
            <a:off x="1048447" y="2767975"/>
            <a:ext cx="2067000" cy="54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3" name="Google Shape;73;p18"/>
          <p:cNvSpPr txBox="1">
            <a:spLocks noGrp="1"/>
          </p:cNvSpPr>
          <p:nvPr>
            <p:ph type="subTitle" idx="6"/>
          </p:nvPr>
        </p:nvSpPr>
        <p:spPr>
          <a:xfrm>
            <a:off x="1048447" y="3452875"/>
            <a:ext cx="20670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text">
  <p:cSld name="TITLE_1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9"/>
          <p:cNvSpPr txBox="1">
            <a:spLocks noGrp="1"/>
          </p:cNvSpPr>
          <p:nvPr>
            <p:ph type="ctrTitle"/>
          </p:nvPr>
        </p:nvSpPr>
        <p:spPr>
          <a:xfrm>
            <a:off x="1273500" y="1369000"/>
            <a:ext cx="6597000" cy="210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 b="1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6" name="Google Shape;76;p19"/>
          <p:cNvSpPr txBox="1">
            <a:spLocks noGrp="1"/>
          </p:cNvSpPr>
          <p:nvPr>
            <p:ph type="subTitle" idx="1"/>
          </p:nvPr>
        </p:nvSpPr>
        <p:spPr>
          <a:xfrm>
            <a:off x="2481900" y="2519525"/>
            <a:ext cx="4180200" cy="4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Design 2">
  <p:cSld name="CAPTION_ONLY_1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2"/>
          <p:cNvSpPr txBox="1">
            <a:spLocks noGrp="1"/>
          </p:cNvSpPr>
          <p:nvPr>
            <p:ph type="title"/>
          </p:nvPr>
        </p:nvSpPr>
        <p:spPr>
          <a:xfrm>
            <a:off x="938500" y="445025"/>
            <a:ext cx="4702200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ExtraBold"/>
              <a:buNone/>
              <a:defRPr sz="28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Char char="●"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8" r:id="rId6"/>
    <p:sldLayoutId id="2147483661" r:id="rId7"/>
    <p:sldLayoutId id="2147483662" r:id="rId8"/>
    <p:sldLayoutId id="2147483663" r:id="rId9"/>
    <p:sldLayoutId id="2147483664" r:id="rId10"/>
    <p:sldLayoutId id="2147483665" r:id="rId11"/>
    <p:sldLayoutId id="2147483668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8"/>
          <p:cNvSpPr txBox="1">
            <a:spLocks noGrp="1"/>
          </p:cNvSpPr>
          <p:nvPr>
            <p:ph type="ctrTitle"/>
          </p:nvPr>
        </p:nvSpPr>
        <p:spPr>
          <a:xfrm>
            <a:off x="367646" y="875655"/>
            <a:ext cx="8305014" cy="700012"/>
          </a:xfrm>
          <a:prstGeom prst="rect">
            <a:avLst/>
          </a:prstGeom>
          <a:effectLst>
            <a:outerShdw blurRad="142875" dist="19050" dir="8760000" algn="bl" rotWithShape="0">
              <a:srgbClr val="76A5AF">
                <a:alpha val="50000"/>
              </a:srgbClr>
            </a:outerShdw>
          </a:effectLst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Esport anailitka CS2 meccsadatokon</a:t>
            </a:r>
            <a:endParaRPr/>
          </a:p>
        </p:txBody>
      </p:sp>
      <p:sp>
        <p:nvSpPr>
          <p:cNvPr id="163" name="Google Shape;163;p38"/>
          <p:cNvSpPr txBox="1">
            <a:spLocks noGrp="1"/>
          </p:cNvSpPr>
          <p:nvPr>
            <p:ph type="subTitle" idx="1"/>
          </p:nvPr>
        </p:nvSpPr>
        <p:spPr>
          <a:xfrm>
            <a:off x="5107911" y="4678800"/>
            <a:ext cx="5055600" cy="4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Készítette: Birta Tamás (R18PB6)</a:t>
            </a:r>
            <a:endParaRPr/>
          </a:p>
        </p:txBody>
      </p:sp>
      <p:sp>
        <p:nvSpPr>
          <p:cNvPr id="164" name="Google Shape;164;p38"/>
          <p:cNvSpPr txBox="1">
            <a:spLocks noGrp="1"/>
          </p:cNvSpPr>
          <p:nvPr>
            <p:ph type="ctrTitle"/>
          </p:nvPr>
        </p:nvSpPr>
        <p:spPr>
          <a:xfrm>
            <a:off x="367646" y="1966550"/>
            <a:ext cx="8201320" cy="464700"/>
          </a:xfrm>
          <a:prstGeom prst="rect">
            <a:avLst/>
          </a:prstGeom>
          <a:effectLst>
            <a:outerShdw blurRad="100013" dist="19050" dir="8460000" algn="bl" rotWithShape="0">
              <a:srgbClr val="76A5AF">
                <a:alpha val="50000"/>
              </a:srgbClr>
            </a:outerShdw>
          </a:effectLst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hu-HU" sz="2000" b="0"/>
              <a:t>A gránáthasználat szerepe a Counter-Strike 2 körök kimenetelének becslésében</a:t>
            </a:r>
            <a:endParaRPr lang="hu-HU" sz="1100" b="0"/>
          </a:p>
        </p:txBody>
      </p:sp>
      <p:cxnSp>
        <p:nvCxnSpPr>
          <p:cNvPr id="165" name="Google Shape;165;p38"/>
          <p:cNvCxnSpPr>
            <a:cxnSpLocks/>
          </p:cNvCxnSpPr>
          <p:nvPr/>
        </p:nvCxnSpPr>
        <p:spPr>
          <a:xfrm flipV="1">
            <a:off x="1164211" y="1575667"/>
            <a:ext cx="6711884" cy="651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pic>
        <p:nvPicPr>
          <p:cNvPr id="5" name="Kép 4">
            <a:extLst>
              <a:ext uri="{FF2B5EF4-FFF2-40B4-BE49-F238E27FC236}">
                <a16:creationId xmlns:a16="http://schemas.microsoft.com/office/drawing/2014/main" id="{32E0DEA8-101D-9150-ACF5-53C68FA479DD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99949" y="2495913"/>
            <a:ext cx="2843599" cy="2415237"/>
          </a:xfrm>
          <a:prstGeom prst="rect">
            <a:avLst/>
          </a:prstGeom>
        </p:spPr>
      </p:pic>
      <p:sp>
        <p:nvSpPr>
          <p:cNvPr id="6" name="Google Shape;184;p40">
            <a:extLst>
              <a:ext uri="{FF2B5EF4-FFF2-40B4-BE49-F238E27FC236}">
                <a16:creationId xmlns:a16="http://schemas.microsoft.com/office/drawing/2014/main" id="{4B61E361-49EC-5469-19C6-56E9EFEEABFA}"/>
              </a:ext>
            </a:extLst>
          </p:cNvPr>
          <p:cNvSpPr txBox="1">
            <a:spLocks/>
          </p:cNvSpPr>
          <p:nvPr/>
        </p:nvSpPr>
        <p:spPr>
          <a:xfrm>
            <a:off x="-23284" y="4740820"/>
            <a:ext cx="671324" cy="402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hu-HU"/>
              <a:t>1/21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74EADED-EAFB-35FB-4DA2-350C17EF7F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3" name="Cím 2">
            <a:extLst>
              <a:ext uri="{FF2B5EF4-FFF2-40B4-BE49-F238E27FC236}">
                <a16:creationId xmlns:a16="http://schemas.microsoft.com/office/drawing/2014/main" id="{3162BC2C-0E84-0319-7168-D29138216B4F}"/>
              </a:ext>
            </a:extLst>
          </p:cNvPr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Alcím 3">
            <a:extLst>
              <a:ext uri="{FF2B5EF4-FFF2-40B4-BE49-F238E27FC236}">
                <a16:creationId xmlns:a16="http://schemas.microsoft.com/office/drawing/2014/main" id="{40866405-664F-A8E6-563F-714619B6224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hu-HU"/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5D1870F6-4C5A-F315-6B57-52549ED2B6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6074" y="-37072"/>
            <a:ext cx="9170074" cy="5143500"/>
          </a:xfrm>
          <a:prstGeom prst="rect">
            <a:avLst/>
          </a:prstGeom>
        </p:spPr>
      </p:pic>
      <p:sp>
        <p:nvSpPr>
          <p:cNvPr id="6" name="Google Shape;184;p40">
            <a:extLst>
              <a:ext uri="{FF2B5EF4-FFF2-40B4-BE49-F238E27FC236}">
                <a16:creationId xmlns:a16="http://schemas.microsoft.com/office/drawing/2014/main" id="{7BF0E815-8F1A-72AA-5082-F828E13EEAEF}"/>
              </a:ext>
            </a:extLst>
          </p:cNvPr>
          <p:cNvSpPr txBox="1">
            <a:spLocks/>
          </p:cNvSpPr>
          <p:nvPr/>
        </p:nvSpPr>
        <p:spPr>
          <a:xfrm>
            <a:off x="-187703" y="4840211"/>
            <a:ext cx="671324" cy="402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hu-HU" dirty="0"/>
              <a:t>2/19</a:t>
            </a:r>
          </a:p>
        </p:txBody>
      </p:sp>
    </p:spTree>
    <p:extLst>
      <p:ext uri="{BB962C8B-B14F-4D97-AF65-F5344CB8AC3E}">
        <p14:creationId xmlns:p14="http://schemas.microsoft.com/office/powerpoint/2010/main" val="20680569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4">
          <a:extLst>
            <a:ext uri="{FF2B5EF4-FFF2-40B4-BE49-F238E27FC236}">
              <a16:creationId xmlns:a16="http://schemas.microsoft.com/office/drawing/2014/main" id="{CE4A5965-2973-2FE3-ED89-AFF4CA77F7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5" name="Google Shape;1955;p54">
            <a:extLst>
              <a:ext uri="{FF2B5EF4-FFF2-40B4-BE49-F238E27FC236}">
                <a16:creationId xmlns:a16="http://schemas.microsoft.com/office/drawing/2014/main" id="{411B12EB-D5F5-1580-586C-6C4B36CB3A3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007494" y="428423"/>
            <a:ext cx="3346511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hu-HU" sz="3600"/>
              <a:t> Adatforrás</a:t>
            </a:r>
          </a:p>
        </p:txBody>
      </p:sp>
      <p:cxnSp>
        <p:nvCxnSpPr>
          <p:cNvPr id="1956" name="Google Shape;1956;p54">
            <a:extLst>
              <a:ext uri="{FF2B5EF4-FFF2-40B4-BE49-F238E27FC236}">
                <a16:creationId xmlns:a16="http://schemas.microsoft.com/office/drawing/2014/main" id="{239EA092-171D-5117-0B10-D1351F2A4B1B}"/>
              </a:ext>
            </a:extLst>
          </p:cNvPr>
          <p:cNvCxnSpPr/>
          <p:nvPr/>
        </p:nvCxnSpPr>
        <p:spPr>
          <a:xfrm>
            <a:off x="1245300" y="2859300"/>
            <a:ext cx="6653400" cy="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57" name="Google Shape;1957;p54">
            <a:extLst>
              <a:ext uri="{FF2B5EF4-FFF2-40B4-BE49-F238E27FC236}">
                <a16:creationId xmlns:a16="http://schemas.microsoft.com/office/drawing/2014/main" id="{07F2538C-8387-A0B2-5275-B50786978908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1019361" y="2097688"/>
            <a:ext cx="1527300" cy="34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1"/>
                </a:solidFill>
              </a:rPr>
              <a:t>1</a:t>
            </a:r>
            <a:endParaRPr sz="2000">
              <a:solidFill>
                <a:schemeClr val="lt1"/>
              </a:solidFill>
            </a:endParaRPr>
          </a:p>
        </p:txBody>
      </p:sp>
      <p:sp>
        <p:nvSpPr>
          <p:cNvPr id="1958" name="Google Shape;1958;p54">
            <a:extLst>
              <a:ext uri="{FF2B5EF4-FFF2-40B4-BE49-F238E27FC236}">
                <a16:creationId xmlns:a16="http://schemas.microsoft.com/office/drawing/2014/main" id="{FA5E4FCD-134D-D600-107E-48C2B109EE15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1019361" y="3072635"/>
            <a:ext cx="1527300" cy="72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indent="0">
              <a:buNone/>
            </a:pPr>
            <a:r>
              <a:rPr lang="hu-HU"/>
              <a:t>1540 profi demo fájl </a:t>
            </a:r>
          </a:p>
        </p:txBody>
      </p:sp>
      <p:sp>
        <p:nvSpPr>
          <p:cNvPr id="1959" name="Google Shape;1959;p54">
            <a:extLst>
              <a:ext uri="{FF2B5EF4-FFF2-40B4-BE49-F238E27FC236}">
                <a16:creationId xmlns:a16="http://schemas.microsoft.com/office/drawing/2014/main" id="{7294A40A-C1CB-74E3-B6E3-062A8656ECB2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4680749" y="2097688"/>
            <a:ext cx="1527300" cy="34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1"/>
                </a:solidFill>
              </a:rPr>
              <a:t>3</a:t>
            </a:r>
            <a:endParaRPr sz="2000">
              <a:solidFill>
                <a:schemeClr val="lt1"/>
              </a:solidFill>
            </a:endParaRPr>
          </a:p>
        </p:txBody>
      </p:sp>
      <p:sp>
        <p:nvSpPr>
          <p:cNvPr id="1960" name="Google Shape;1960;p54">
            <a:extLst>
              <a:ext uri="{FF2B5EF4-FFF2-40B4-BE49-F238E27FC236}">
                <a16:creationId xmlns:a16="http://schemas.microsoft.com/office/drawing/2014/main" id="{76BCFC71-44E3-867F-E0F0-4CAB7F9E027E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4187934" y="2904368"/>
            <a:ext cx="2734461" cy="72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 algn="ctr">
              <a:spcBef>
                <a:spcPts val="1600"/>
              </a:spcBef>
              <a:spcAft>
                <a:spcPts val="1600"/>
              </a:spcAft>
              <a:buNone/>
            </a:pPr>
            <a:r>
              <a:rPr lang="hu-HU"/>
              <a:t>0.5 másodperces pillanatképek</a:t>
            </a:r>
          </a:p>
          <a:p>
            <a:pPr marL="0" lvl="0" indent="0" algn="ctr" rtl="0">
              <a:spcBef>
                <a:spcPts val="1600"/>
              </a:spcBef>
              <a:spcAft>
                <a:spcPts val="1600"/>
              </a:spcAft>
              <a:buNone/>
            </a:pPr>
            <a:endParaRPr sz="1400">
              <a:solidFill>
                <a:schemeClr val="lt1"/>
              </a:solidFill>
            </a:endParaRPr>
          </a:p>
        </p:txBody>
      </p:sp>
      <p:sp>
        <p:nvSpPr>
          <p:cNvPr id="1961" name="Google Shape;1961;p54">
            <a:extLst>
              <a:ext uri="{FF2B5EF4-FFF2-40B4-BE49-F238E27FC236}">
                <a16:creationId xmlns:a16="http://schemas.microsoft.com/office/drawing/2014/main" id="{7C4454B5-A444-8EDB-CF61-5F4E1819775F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2713228" y="1920566"/>
            <a:ext cx="1858772" cy="72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indent="0">
              <a:buNone/>
            </a:pPr>
            <a:r>
              <a:rPr lang="hu-HU"/>
              <a:t>AWPy-alapú feldolgozás </a:t>
            </a:r>
          </a:p>
        </p:txBody>
      </p:sp>
      <p:sp>
        <p:nvSpPr>
          <p:cNvPr id="1962" name="Google Shape;1962;p54">
            <a:extLst>
              <a:ext uri="{FF2B5EF4-FFF2-40B4-BE49-F238E27FC236}">
                <a16:creationId xmlns:a16="http://schemas.microsoft.com/office/drawing/2014/main" id="{FEE1EF96-7E08-6072-88A4-B73F04244629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2878964" y="3151926"/>
            <a:ext cx="1527300" cy="38799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1"/>
                </a:solidFill>
              </a:rPr>
              <a:t>2</a:t>
            </a:r>
            <a:endParaRPr sz="2000">
              <a:solidFill>
                <a:schemeClr val="lt1"/>
              </a:solidFill>
            </a:endParaRPr>
          </a:p>
        </p:txBody>
      </p:sp>
      <p:sp>
        <p:nvSpPr>
          <p:cNvPr id="1965" name="Google Shape;1965;p54">
            <a:extLst>
              <a:ext uri="{FF2B5EF4-FFF2-40B4-BE49-F238E27FC236}">
                <a16:creationId xmlns:a16="http://schemas.microsoft.com/office/drawing/2014/main" id="{4FB819BC-C5A0-CAE6-8F5F-6B2BAF14FEFE}"/>
              </a:ext>
            </a:extLst>
          </p:cNvPr>
          <p:cNvSpPr/>
          <p:nvPr/>
        </p:nvSpPr>
        <p:spPr>
          <a:xfrm>
            <a:off x="1674250" y="2750550"/>
            <a:ext cx="217500" cy="2175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6" name="Google Shape;1966;p54">
            <a:extLst>
              <a:ext uri="{FF2B5EF4-FFF2-40B4-BE49-F238E27FC236}">
                <a16:creationId xmlns:a16="http://schemas.microsoft.com/office/drawing/2014/main" id="{D675B879-2925-8170-4454-E4081CEC76B0}"/>
              </a:ext>
            </a:extLst>
          </p:cNvPr>
          <p:cNvSpPr/>
          <p:nvPr/>
        </p:nvSpPr>
        <p:spPr>
          <a:xfrm>
            <a:off x="3533864" y="2747778"/>
            <a:ext cx="217500" cy="2175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7" name="Google Shape;1967;p54">
            <a:extLst>
              <a:ext uri="{FF2B5EF4-FFF2-40B4-BE49-F238E27FC236}">
                <a16:creationId xmlns:a16="http://schemas.microsoft.com/office/drawing/2014/main" id="{0C271090-F81E-8A13-139C-A2235881B400}"/>
              </a:ext>
            </a:extLst>
          </p:cNvPr>
          <p:cNvSpPr/>
          <p:nvPr/>
        </p:nvSpPr>
        <p:spPr>
          <a:xfrm>
            <a:off x="5392638" y="2747778"/>
            <a:ext cx="217500" cy="2175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Google Shape;1967;p54">
            <a:extLst>
              <a:ext uri="{FF2B5EF4-FFF2-40B4-BE49-F238E27FC236}">
                <a16:creationId xmlns:a16="http://schemas.microsoft.com/office/drawing/2014/main" id="{DD4D4B30-A7F8-B970-4F24-4E6F4C2B283E}"/>
              </a:ext>
            </a:extLst>
          </p:cNvPr>
          <p:cNvSpPr/>
          <p:nvPr/>
        </p:nvSpPr>
        <p:spPr>
          <a:xfrm>
            <a:off x="7251411" y="2747778"/>
            <a:ext cx="217500" cy="2175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Google Shape;1959;p54">
            <a:extLst>
              <a:ext uri="{FF2B5EF4-FFF2-40B4-BE49-F238E27FC236}">
                <a16:creationId xmlns:a16="http://schemas.microsoft.com/office/drawing/2014/main" id="{B5CE0446-921F-51B4-BBB2-883B79D07875}"/>
              </a:ext>
            </a:extLst>
          </p:cNvPr>
          <p:cNvSpPr txBox="1">
            <a:spLocks/>
          </p:cNvSpPr>
          <p:nvPr/>
        </p:nvSpPr>
        <p:spPr>
          <a:xfrm>
            <a:off x="6596511" y="3151926"/>
            <a:ext cx="1527300" cy="34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ExtraBold"/>
              <a:buNone/>
              <a:defRPr sz="2800" b="0" i="0" u="none" strike="noStrike" cap="none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algn="ctr"/>
            <a:r>
              <a:rPr lang="en" sz="2000"/>
              <a:t>4</a:t>
            </a:r>
          </a:p>
        </p:txBody>
      </p:sp>
      <p:sp>
        <p:nvSpPr>
          <p:cNvPr id="5" name="Google Shape;1960;p54">
            <a:extLst>
              <a:ext uri="{FF2B5EF4-FFF2-40B4-BE49-F238E27FC236}">
                <a16:creationId xmlns:a16="http://schemas.microsoft.com/office/drawing/2014/main" id="{3C064D96-0B96-631C-B3CF-42E10C8D0D62}"/>
              </a:ext>
            </a:extLst>
          </p:cNvPr>
          <p:cNvSpPr txBox="1">
            <a:spLocks/>
          </p:cNvSpPr>
          <p:nvPr/>
        </p:nvSpPr>
        <p:spPr>
          <a:xfrm>
            <a:off x="5992930" y="1940047"/>
            <a:ext cx="2734461" cy="72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Char char="●"/>
              <a:defRPr sz="18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114300" indent="0" algn="ctr">
              <a:buNone/>
            </a:pPr>
            <a:r>
              <a:rPr lang="hu-HU"/>
              <a:t>531 jellemző </a:t>
            </a:r>
          </a:p>
          <a:p>
            <a:pPr marL="114300" indent="0" algn="ctr">
              <a:buNone/>
            </a:pPr>
            <a:r>
              <a:rPr lang="hu-HU"/>
              <a:t>célváltozó: `</a:t>
            </a:r>
            <a:r>
              <a:rPr lang="hu-HU">
                <a:latin typeface="Andale Mono" panose="020B0509000000000004" pitchFamily="49" charset="0"/>
              </a:rPr>
              <a:t>ct_win</a:t>
            </a:r>
            <a:r>
              <a:rPr lang="hu-HU"/>
              <a:t>`</a:t>
            </a:r>
          </a:p>
          <a:p>
            <a:pPr marL="0" indent="0" algn="ctr">
              <a:spcBef>
                <a:spcPts val="1600"/>
              </a:spcBef>
              <a:spcAft>
                <a:spcPts val="1600"/>
              </a:spcAft>
              <a:buFont typeface="Montserrat"/>
              <a:buNone/>
            </a:pPr>
            <a:endParaRPr lang="hu-HU" sz="1400">
              <a:solidFill>
                <a:schemeClr val="lt1"/>
              </a:solidFill>
            </a:endParaRPr>
          </a:p>
        </p:txBody>
      </p:sp>
      <p:sp>
        <p:nvSpPr>
          <p:cNvPr id="6" name="Google Shape;184;p40">
            <a:extLst>
              <a:ext uri="{FF2B5EF4-FFF2-40B4-BE49-F238E27FC236}">
                <a16:creationId xmlns:a16="http://schemas.microsoft.com/office/drawing/2014/main" id="{9FFB257A-E862-A771-32A3-3A4EC77614CC}"/>
              </a:ext>
            </a:extLst>
          </p:cNvPr>
          <p:cNvSpPr txBox="1">
            <a:spLocks/>
          </p:cNvSpPr>
          <p:nvPr/>
        </p:nvSpPr>
        <p:spPr>
          <a:xfrm>
            <a:off x="-18738" y="4740820"/>
            <a:ext cx="671324" cy="402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hu-HU" dirty="0"/>
              <a:t>3/19</a:t>
            </a:r>
          </a:p>
        </p:txBody>
      </p:sp>
    </p:spTree>
    <p:extLst>
      <p:ext uri="{BB962C8B-B14F-4D97-AF65-F5344CB8AC3E}">
        <p14:creationId xmlns:p14="http://schemas.microsoft.com/office/powerpoint/2010/main" val="5766060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>
          <a:extLst>
            <a:ext uri="{FF2B5EF4-FFF2-40B4-BE49-F238E27FC236}">
              <a16:creationId xmlns:a16="http://schemas.microsoft.com/office/drawing/2014/main" id="{2A1F5C93-9417-E1A0-0C70-93FABDD0B9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46">
            <a:extLst>
              <a:ext uri="{FF2B5EF4-FFF2-40B4-BE49-F238E27FC236}">
                <a16:creationId xmlns:a16="http://schemas.microsoft.com/office/drawing/2014/main" id="{AD89489C-25ED-712D-5987-5598269819D2}"/>
              </a:ext>
            </a:extLst>
          </p:cNvPr>
          <p:cNvSpPr txBox="1">
            <a:spLocks noGrp="1"/>
          </p:cNvSpPr>
          <p:nvPr>
            <p:ph type="title" idx="4"/>
          </p:nvPr>
        </p:nvSpPr>
        <p:spPr>
          <a:xfrm>
            <a:off x="1570609" y="376938"/>
            <a:ext cx="6687376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A főbb jellemzőtípusok</a:t>
            </a:r>
            <a:endParaRPr sz="3600"/>
          </a:p>
        </p:txBody>
      </p:sp>
      <p:sp>
        <p:nvSpPr>
          <p:cNvPr id="235" name="Google Shape;235;p46">
            <a:extLst>
              <a:ext uri="{FF2B5EF4-FFF2-40B4-BE49-F238E27FC236}">
                <a16:creationId xmlns:a16="http://schemas.microsoft.com/office/drawing/2014/main" id="{D4D63DDF-CE64-C793-BBA4-5A84F55021E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330172" y="1343113"/>
            <a:ext cx="2067000" cy="54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Gazdaság</a:t>
            </a:r>
            <a:endParaRPr/>
          </a:p>
        </p:txBody>
      </p:sp>
      <p:sp>
        <p:nvSpPr>
          <p:cNvPr id="237" name="Google Shape;237;p46">
            <a:extLst>
              <a:ext uri="{FF2B5EF4-FFF2-40B4-BE49-F238E27FC236}">
                <a16:creationId xmlns:a16="http://schemas.microsoft.com/office/drawing/2014/main" id="{D64C31BB-89A0-20B9-F57C-1AA7994D69A7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5892650" y="1382314"/>
            <a:ext cx="2067000" cy="54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Pozíció</a:t>
            </a:r>
            <a:endParaRPr/>
          </a:p>
        </p:txBody>
      </p:sp>
      <p:sp>
        <p:nvSpPr>
          <p:cNvPr id="238" name="Google Shape;238;p46">
            <a:extLst>
              <a:ext uri="{FF2B5EF4-FFF2-40B4-BE49-F238E27FC236}">
                <a16:creationId xmlns:a16="http://schemas.microsoft.com/office/drawing/2014/main" id="{E068DC74-2A31-50DD-19E9-27050049CC8A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961306" y="1891513"/>
            <a:ext cx="2067000" cy="79032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Élő játékosok életereje, darabszáma</a:t>
            </a:r>
            <a:endParaRPr/>
          </a:p>
        </p:txBody>
      </p:sp>
      <p:sp>
        <p:nvSpPr>
          <p:cNvPr id="239" name="Google Shape;239;p46">
            <a:extLst>
              <a:ext uri="{FF2B5EF4-FFF2-40B4-BE49-F238E27FC236}">
                <a16:creationId xmlns:a16="http://schemas.microsoft.com/office/drawing/2014/main" id="{E2B5F545-0306-F6A1-BA66-AC661BE80F6D}"/>
              </a:ext>
            </a:extLst>
          </p:cNvPr>
          <p:cNvSpPr txBox="1">
            <a:spLocks noGrp="1"/>
          </p:cNvSpPr>
          <p:nvPr>
            <p:ph type="title" idx="5"/>
          </p:nvPr>
        </p:nvSpPr>
        <p:spPr>
          <a:xfrm>
            <a:off x="1048447" y="1343113"/>
            <a:ext cx="2067000" cy="54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Játékállapot</a:t>
            </a:r>
            <a:endParaRPr/>
          </a:p>
        </p:txBody>
      </p:sp>
      <p:cxnSp>
        <p:nvCxnSpPr>
          <p:cNvPr id="241" name="Google Shape;241;p46">
            <a:extLst>
              <a:ext uri="{FF2B5EF4-FFF2-40B4-BE49-F238E27FC236}">
                <a16:creationId xmlns:a16="http://schemas.microsoft.com/office/drawing/2014/main" id="{BE0D905C-D285-3E61-C6E9-0836EE3A6F00}"/>
              </a:ext>
            </a:extLst>
          </p:cNvPr>
          <p:cNvCxnSpPr>
            <a:cxnSpLocks/>
          </p:cNvCxnSpPr>
          <p:nvPr/>
        </p:nvCxnSpPr>
        <p:spPr>
          <a:xfrm>
            <a:off x="3813047" y="1822684"/>
            <a:ext cx="110125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cxnSp>
        <p:nvCxnSpPr>
          <p:cNvPr id="242" name="Google Shape;242;p46">
            <a:extLst>
              <a:ext uri="{FF2B5EF4-FFF2-40B4-BE49-F238E27FC236}">
                <a16:creationId xmlns:a16="http://schemas.microsoft.com/office/drawing/2014/main" id="{351F4E1A-A2F9-F230-F22B-CFD96E27EDA5}"/>
              </a:ext>
            </a:extLst>
          </p:cNvPr>
          <p:cNvCxnSpPr>
            <a:cxnSpLocks/>
          </p:cNvCxnSpPr>
          <p:nvPr/>
        </p:nvCxnSpPr>
        <p:spPr>
          <a:xfrm flipV="1">
            <a:off x="6496382" y="1822684"/>
            <a:ext cx="864538" cy="5618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cxnSp>
        <p:nvCxnSpPr>
          <p:cNvPr id="243" name="Google Shape;243;p46">
            <a:extLst>
              <a:ext uri="{FF2B5EF4-FFF2-40B4-BE49-F238E27FC236}">
                <a16:creationId xmlns:a16="http://schemas.microsoft.com/office/drawing/2014/main" id="{95D22103-043B-F527-DBFF-C3B210E034C7}"/>
              </a:ext>
            </a:extLst>
          </p:cNvPr>
          <p:cNvCxnSpPr>
            <a:cxnSpLocks/>
          </p:cNvCxnSpPr>
          <p:nvPr/>
        </p:nvCxnSpPr>
        <p:spPr>
          <a:xfrm>
            <a:off x="1268359" y="1822684"/>
            <a:ext cx="1584569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sp>
        <p:nvSpPr>
          <p:cNvPr id="12" name="Google Shape;238;p46">
            <a:extLst>
              <a:ext uri="{FF2B5EF4-FFF2-40B4-BE49-F238E27FC236}">
                <a16:creationId xmlns:a16="http://schemas.microsoft.com/office/drawing/2014/main" id="{564189D4-E960-1A51-40AD-67ED2917F714}"/>
              </a:ext>
            </a:extLst>
          </p:cNvPr>
          <p:cNvSpPr txBox="1">
            <a:spLocks/>
          </p:cNvSpPr>
          <p:nvPr/>
        </p:nvSpPr>
        <p:spPr>
          <a:xfrm>
            <a:off x="3330172" y="1891513"/>
            <a:ext cx="2067000" cy="79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indent="0"/>
            <a:r>
              <a:rPr lang="hu-HU"/>
              <a:t>Milyen felszereléssel rendelkeznek</a:t>
            </a:r>
          </a:p>
        </p:txBody>
      </p:sp>
      <p:sp>
        <p:nvSpPr>
          <p:cNvPr id="13" name="Google Shape;238;p46">
            <a:extLst>
              <a:ext uri="{FF2B5EF4-FFF2-40B4-BE49-F238E27FC236}">
                <a16:creationId xmlns:a16="http://schemas.microsoft.com/office/drawing/2014/main" id="{3ADEE598-937C-3CCB-B4DD-E801683CC778}"/>
              </a:ext>
            </a:extLst>
          </p:cNvPr>
          <p:cNvSpPr txBox="1">
            <a:spLocks/>
          </p:cNvSpPr>
          <p:nvPr/>
        </p:nvSpPr>
        <p:spPr>
          <a:xfrm>
            <a:off x="5892650" y="1891513"/>
            <a:ext cx="2067000" cy="79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indent="0"/>
            <a:r>
              <a:rPr lang="hu-HU"/>
              <a:t>Játékosok elhelyezkedése a térképen</a:t>
            </a:r>
          </a:p>
        </p:txBody>
      </p:sp>
      <p:sp>
        <p:nvSpPr>
          <p:cNvPr id="14" name="Google Shape;239;p46">
            <a:extLst>
              <a:ext uri="{FF2B5EF4-FFF2-40B4-BE49-F238E27FC236}">
                <a16:creationId xmlns:a16="http://schemas.microsoft.com/office/drawing/2014/main" id="{9BDAAB4F-2C40-BE9B-CE04-A970A9B05072}"/>
              </a:ext>
            </a:extLst>
          </p:cNvPr>
          <p:cNvSpPr txBox="1">
            <a:spLocks/>
          </p:cNvSpPr>
          <p:nvPr/>
        </p:nvSpPr>
        <p:spPr>
          <a:xfrm>
            <a:off x="2081947" y="3159721"/>
            <a:ext cx="2067000" cy="54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 ExtraBold"/>
              <a:buNone/>
              <a:defRPr sz="1800" b="0" i="0" u="none" strike="noStrike" cap="none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hu-HU"/>
              <a:t>Események</a:t>
            </a:r>
          </a:p>
        </p:txBody>
      </p:sp>
      <p:sp>
        <p:nvSpPr>
          <p:cNvPr id="15" name="Google Shape;238;p46">
            <a:extLst>
              <a:ext uri="{FF2B5EF4-FFF2-40B4-BE49-F238E27FC236}">
                <a16:creationId xmlns:a16="http://schemas.microsoft.com/office/drawing/2014/main" id="{D1B11F66-6407-963F-1619-39C9629E125E}"/>
              </a:ext>
            </a:extLst>
          </p:cNvPr>
          <p:cNvSpPr txBox="1">
            <a:spLocks/>
          </p:cNvSpPr>
          <p:nvPr/>
        </p:nvSpPr>
        <p:spPr>
          <a:xfrm>
            <a:off x="2060643" y="3708121"/>
            <a:ext cx="2067000" cy="79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indent="0"/>
            <a:r>
              <a:rPr lang="hu-HU"/>
              <a:t>Elmúlt pár másodpercben történt sebzés, ölés vagy bombalerakás</a:t>
            </a:r>
          </a:p>
        </p:txBody>
      </p:sp>
      <p:cxnSp>
        <p:nvCxnSpPr>
          <p:cNvPr id="16" name="Google Shape;243;p46">
            <a:extLst>
              <a:ext uri="{FF2B5EF4-FFF2-40B4-BE49-F238E27FC236}">
                <a16:creationId xmlns:a16="http://schemas.microsoft.com/office/drawing/2014/main" id="{77D4B3DF-BE82-39CF-CD9E-C0806A8476DD}"/>
              </a:ext>
            </a:extLst>
          </p:cNvPr>
          <p:cNvCxnSpPr>
            <a:cxnSpLocks/>
          </p:cNvCxnSpPr>
          <p:nvPr/>
        </p:nvCxnSpPr>
        <p:spPr>
          <a:xfrm>
            <a:off x="2323162" y="3621004"/>
            <a:ext cx="1584569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sp>
        <p:nvSpPr>
          <p:cNvPr id="17" name="Google Shape;239;p46">
            <a:extLst>
              <a:ext uri="{FF2B5EF4-FFF2-40B4-BE49-F238E27FC236}">
                <a16:creationId xmlns:a16="http://schemas.microsoft.com/office/drawing/2014/main" id="{CF1B4836-295E-2AED-DA7E-43BD74BF3E94}"/>
              </a:ext>
            </a:extLst>
          </p:cNvPr>
          <p:cNvSpPr txBox="1">
            <a:spLocks/>
          </p:cNvSpPr>
          <p:nvPr/>
        </p:nvSpPr>
        <p:spPr>
          <a:xfrm>
            <a:off x="4390162" y="3150353"/>
            <a:ext cx="2760446" cy="54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 ExtraBold"/>
              <a:buNone/>
              <a:defRPr sz="1800" b="0" i="0" u="none" strike="noStrike" cap="none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hu-HU"/>
              <a:t>Gránát események</a:t>
            </a:r>
          </a:p>
        </p:txBody>
      </p:sp>
      <p:sp>
        <p:nvSpPr>
          <p:cNvPr id="18" name="Google Shape;238;p46">
            <a:extLst>
              <a:ext uri="{FF2B5EF4-FFF2-40B4-BE49-F238E27FC236}">
                <a16:creationId xmlns:a16="http://schemas.microsoft.com/office/drawing/2014/main" id="{595026C4-0E76-B000-FF97-7CAFD368AF8B}"/>
              </a:ext>
            </a:extLst>
          </p:cNvPr>
          <p:cNvSpPr txBox="1">
            <a:spLocks/>
          </p:cNvSpPr>
          <p:nvPr/>
        </p:nvSpPr>
        <p:spPr>
          <a:xfrm>
            <a:off x="4394131" y="3654700"/>
            <a:ext cx="2824455" cy="79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indent="0"/>
            <a:r>
              <a:rPr lang="hu-HU"/>
              <a:t>Részletesen kifejtve hiszent ezek hatását vizsgáljuk</a:t>
            </a:r>
          </a:p>
        </p:txBody>
      </p:sp>
      <p:cxnSp>
        <p:nvCxnSpPr>
          <p:cNvPr id="19" name="Google Shape;243;p46">
            <a:extLst>
              <a:ext uri="{FF2B5EF4-FFF2-40B4-BE49-F238E27FC236}">
                <a16:creationId xmlns:a16="http://schemas.microsoft.com/office/drawing/2014/main" id="{2E2E9D6E-2660-7616-1332-84C7A0CA11CF}"/>
              </a:ext>
            </a:extLst>
          </p:cNvPr>
          <p:cNvCxnSpPr>
            <a:cxnSpLocks/>
          </p:cNvCxnSpPr>
          <p:nvPr/>
        </p:nvCxnSpPr>
        <p:spPr>
          <a:xfrm>
            <a:off x="4663440" y="3621004"/>
            <a:ext cx="2276856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sp>
        <p:nvSpPr>
          <p:cNvPr id="4" name="Google Shape;184;p40">
            <a:extLst>
              <a:ext uri="{FF2B5EF4-FFF2-40B4-BE49-F238E27FC236}">
                <a16:creationId xmlns:a16="http://schemas.microsoft.com/office/drawing/2014/main" id="{D6A4D0E4-5586-32C8-D4E4-3247AF6D253B}"/>
              </a:ext>
            </a:extLst>
          </p:cNvPr>
          <p:cNvSpPr txBox="1">
            <a:spLocks/>
          </p:cNvSpPr>
          <p:nvPr/>
        </p:nvSpPr>
        <p:spPr>
          <a:xfrm>
            <a:off x="-18738" y="4740820"/>
            <a:ext cx="671324" cy="402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hu-HU" dirty="0"/>
              <a:t>4/19</a:t>
            </a:r>
          </a:p>
        </p:txBody>
      </p:sp>
    </p:spTree>
    <p:extLst>
      <p:ext uri="{BB962C8B-B14F-4D97-AF65-F5344CB8AC3E}">
        <p14:creationId xmlns:p14="http://schemas.microsoft.com/office/powerpoint/2010/main" val="21206639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41"/>
          <p:cNvSpPr txBox="1">
            <a:spLocks noGrp="1"/>
          </p:cNvSpPr>
          <p:nvPr>
            <p:ph type="ctrTitle"/>
          </p:nvPr>
        </p:nvSpPr>
        <p:spPr>
          <a:xfrm>
            <a:off x="3182112" y="2695715"/>
            <a:ext cx="5711664" cy="644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Feltáró adatelmzés</a:t>
            </a:r>
            <a:endParaRPr/>
          </a:p>
        </p:txBody>
      </p:sp>
      <p:sp>
        <p:nvSpPr>
          <p:cNvPr id="195" name="Google Shape;195;p41"/>
          <p:cNvSpPr txBox="1">
            <a:spLocks noGrp="1"/>
          </p:cNvSpPr>
          <p:nvPr>
            <p:ph type="subTitle" idx="1"/>
          </p:nvPr>
        </p:nvSpPr>
        <p:spPr>
          <a:xfrm>
            <a:off x="4144050" y="3549850"/>
            <a:ext cx="3940200" cy="4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Egy-két fontos megfigyelés</a:t>
            </a:r>
            <a:endParaRPr/>
          </a:p>
        </p:txBody>
      </p:sp>
      <p:sp>
        <p:nvSpPr>
          <p:cNvPr id="2" name="Google Shape;184;p40">
            <a:extLst>
              <a:ext uri="{FF2B5EF4-FFF2-40B4-BE49-F238E27FC236}">
                <a16:creationId xmlns:a16="http://schemas.microsoft.com/office/drawing/2014/main" id="{C8A38D82-869E-8EAE-B265-6DD2445278E5}"/>
              </a:ext>
            </a:extLst>
          </p:cNvPr>
          <p:cNvSpPr txBox="1">
            <a:spLocks/>
          </p:cNvSpPr>
          <p:nvPr/>
        </p:nvSpPr>
        <p:spPr>
          <a:xfrm>
            <a:off x="-18738" y="4740820"/>
            <a:ext cx="671324" cy="402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hu-HU" dirty="0"/>
              <a:t>5/19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>
          <a:extLst>
            <a:ext uri="{FF2B5EF4-FFF2-40B4-BE49-F238E27FC236}">
              <a16:creationId xmlns:a16="http://schemas.microsoft.com/office/drawing/2014/main" id="{3BBD2A0B-971C-1620-C871-DF29FCE3BF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42">
            <a:extLst>
              <a:ext uri="{FF2B5EF4-FFF2-40B4-BE49-F238E27FC236}">
                <a16:creationId xmlns:a16="http://schemas.microsoft.com/office/drawing/2014/main" id="{C857EC9A-6BCA-6914-64D9-6DB874BFDD81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261081" y="4137800"/>
            <a:ext cx="6515796" cy="4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/>
            <a:r>
              <a:rPr lang="hu-HU"/>
              <a:t>A célváltozó kiegyensúlyozott volt, a legerősebb jelek pedig az emberelőnyhöz és a felszerelési különbséghez kapcsolódtak.</a:t>
            </a:r>
            <a:endParaRPr/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3E422542-15C6-C83D-DEB5-CE9BB5920EBF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2247" y="355517"/>
            <a:ext cx="3664794" cy="2005443"/>
          </a:xfrm>
          <a:prstGeom prst="rect">
            <a:avLst/>
          </a:prstGeom>
        </p:spPr>
      </p:pic>
      <p:pic>
        <p:nvPicPr>
          <p:cNvPr id="5" name="Kép 4">
            <a:extLst>
              <a:ext uri="{FF2B5EF4-FFF2-40B4-BE49-F238E27FC236}">
                <a16:creationId xmlns:a16="http://schemas.microsoft.com/office/drawing/2014/main" id="{1559EF8F-81BB-4D75-4676-947AE35705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2000" y="1037973"/>
            <a:ext cx="3729753" cy="2914754"/>
          </a:xfrm>
          <a:prstGeom prst="rect">
            <a:avLst/>
          </a:prstGeom>
        </p:spPr>
      </p:pic>
      <p:sp>
        <p:nvSpPr>
          <p:cNvPr id="6" name="Google Shape;184;p40">
            <a:extLst>
              <a:ext uri="{FF2B5EF4-FFF2-40B4-BE49-F238E27FC236}">
                <a16:creationId xmlns:a16="http://schemas.microsoft.com/office/drawing/2014/main" id="{F58D788A-A822-A9E8-7C54-F6B8A6A1FE2E}"/>
              </a:ext>
            </a:extLst>
          </p:cNvPr>
          <p:cNvSpPr txBox="1">
            <a:spLocks/>
          </p:cNvSpPr>
          <p:nvPr/>
        </p:nvSpPr>
        <p:spPr>
          <a:xfrm>
            <a:off x="-18738" y="4740820"/>
            <a:ext cx="671324" cy="402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hu-HU" dirty="0"/>
              <a:t>6/19</a:t>
            </a:r>
          </a:p>
        </p:txBody>
      </p:sp>
    </p:spTree>
    <p:extLst>
      <p:ext uri="{BB962C8B-B14F-4D97-AF65-F5344CB8AC3E}">
        <p14:creationId xmlns:p14="http://schemas.microsoft.com/office/powerpoint/2010/main" val="1209377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42"/>
          <p:cNvSpPr txBox="1">
            <a:spLocks noGrp="1"/>
          </p:cNvSpPr>
          <p:nvPr>
            <p:ph type="subTitle" idx="1"/>
          </p:nvPr>
        </p:nvSpPr>
        <p:spPr>
          <a:xfrm>
            <a:off x="1673352" y="3945600"/>
            <a:ext cx="5939724" cy="4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hu-HU"/>
              <a:t>A gránátok hatása nem minden fázisban ugyanúgy jelenik meg.</a:t>
            </a:r>
            <a:endParaRPr/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8A97E8A6-5075-570F-6A47-3C896092E6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9324" y="504316"/>
            <a:ext cx="6245352" cy="3190234"/>
          </a:xfrm>
          <a:prstGeom prst="rect">
            <a:avLst/>
          </a:prstGeom>
        </p:spPr>
      </p:pic>
      <p:sp>
        <p:nvSpPr>
          <p:cNvPr id="5" name="Google Shape;184;p40">
            <a:extLst>
              <a:ext uri="{FF2B5EF4-FFF2-40B4-BE49-F238E27FC236}">
                <a16:creationId xmlns:a16="http://schemas.microsoft.com/office/drawing/2014/main" id="{3BBAA81C-63B0-0AD7-1208-B2739BA7E491}"/>
              </a:ext>
            </a:extLst>
          </p:cNvPr>
          <p:cNvSpPr txBox="1">
            <a:spLocks/>
          </p:cNvSpPr>
          <p:nvPr/>
        </p:nvSpPr>
        <p:spPr>
          <a:xfrm>
            <a:off x="-18738" y="4740820"/>
            <a:ext cx="671324" cy="402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hu-HU" dirty="0"/>
              <a:t>7/19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43"/>
          <p:cNvSpPr txBox="1">
            <a:spLocks noGrp="1"/>
          </p:cNvSpPr>
          <p:nvPr>
            <p:ph type="title"/>
          </p:nvPr>
        </p:nvSpPr>
        <p:spPr>
          <a:xfrm>
            <a:off x="6899547" y="4024889"/>
            <a:ext cx="3068700" cy="59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LSTM</a:t>
            </a:r>
            <a:endParaRPr/>
          </a:p>
        </p:txBody>
      </p:sp>
      <p:sp>
        <p:nvSpPr>
          <p:cNvPr id="207" name="Google Shape;207;p43"/>
          <p:cNvSpPr txBox="1">
            <a:spLocks noGrp="1"/>
          </p:cNvSpPr>
          <p:nvPr>
            <p:ph type="title" idx="2"/>
          </p:nvPr>
        </p:nvSpPr>
        <p:spPr>
          <a:xfrm>
            <a:off x="-844323" y="3760748"/>
            <a:ext cx="2412900" cy="931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cxnSp>
        <p:nvCxnSpPr>
          <p:cNvPr id="209" name="Google Shape;209;p43"/>
          <p:cNvCxnSpPr>
            <a:cxnSpLocks/>
          </p:cNvCxnSpPr>
          <p:nvPr/>
        </p:nvCxnSpPr>
        <p:spPr>
          <a:xfrm>
            <a:off x="1591603" y="3831336"/>
            <a:ext cx="0" cy="792353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sp>
        <p:nvSpPr>
          <p:cNvPr id="2" name="Google Shape;1955;p54">
            <a:extLst>
              <a:ext uri="{FF2B5EF4-FFF2-40B4-BE49-F238E27FC236}">
                <a16:creationId xmlns:a16="http://schemas.microsoft.com/office/drawing/2014/main" id="{08894BCD-4555-8197-6EAD-5FFEBA532646}"/>
              </a:ext>
            </a:extLst>
          </p:cNvPr>
          <p:cNvSpPr txBox="1">
            <a:spLocks/>
          </p:cNvSpPr>
          <p:nvPr/>
        </p:nvSpPr>
        <p:spPr>
          <a:xfrm>
            <a:off x="2898744" y="315903"/>
            <a:ext cx="3346511" cy="783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Montserrat ExtraBold"/>
              <a:buNone/>
              <a:defRPr sz="3600" b="0" i="0" u="none" strike="noStrike" cap="none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Montserrat"/>
              <a:buNone/>
              <a:defRPr sz="36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Montserrat"/>
              <a:buNone/>
              <a:defRPr sz="36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Montserrat"/>
              <a:buNone/>
              <a:defRPr sz="36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Montserrat"/>
              <a:buNone/>
              <a:defRPr sz="36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Montserrat"/>
              <a:buNone/>
              <a:defRPr sz="36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Montserrat"/>
              <a:buNone/>
              <a:defRPr sz="36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Montserrat"/>
              <a:buNone/>
              <a:defRPr sz="36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Montserrat"/>
              <a:buNone/>
              <a:defRPr sz="36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hu-HU"/>
              <a:t> </a:t>
            </a:r>
            <a:r>
              <a:rPr lang="hu-HU">
                <a:solidFill>
                  <a:schemeClr val="tx2"/>
                </a:solidFill>
              </a:rPr>
              <a:t>Módszertan</a:t>
            </a:r>
          </a:p>
        </p:txBody>
      </p:sp>
      <p:sp>
        <p:nvSpPr>
          <p:cNvPr id="3" name="Google Shape;207;p43">
            <a:extLst>
              <a:ext uri="{FF2B5EF4-FFF2-40B4-BE49-F238E27FC236}">
                <a16:creationId xmlns:a16="http://schemas.microsoft.com/office/drawing/2014/main" id="{D4C42F43-6AC9-6EA0-789F-302B790C9670}"/>
              </a:ext>
            </a:extLst>
          </p:cNvPr>
          <p:cNvSpPr txBox="1">
            <a:spLocks/>
          </p:cNvSpPr>
          <p:nvPr/>
        </p:nvSpPr>
        <p:spPr>
          <a:xfrm>
            <a:off x="4443982" y="3760748"/>
            <a:ext cx="2412900" cy="931500"/>
          </a:xfrm>
          <a:prstGeom prst="rect">
            <a:avLst/>
          </a:prstGeom>
          <a:noFill/>
          <a:ln>
            <a:noFill/>
          </a:ln>
          <a:effectLst>
            <a:outerShdw blurRad="114300" dist="28575" dir="6360000" algn="bl" rotWithShape="0">
              <a:schemeClr val="accent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Montserrat ExtraBold"/>
              <a:buNone/>
              <a:defRPr sz="6000" b="0" i="0" u="none" strike="noStrike" cap="none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Montserrat"/>
              <a:buNone/>
              <a:defRPr sz="7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Montserrat"/>
              <a:buNone/>
              <a:defRPr sz="7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Montserrat"/>
              <a:buNone/>
              <a:defRPr sz="7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Montserrat"/>
              <a:buNone/>
              <a:defRPr sz="7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Montserrat"/>
              <a:buNone/>
              <a:defRPr sz="7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Montserrat"/>
              <a:buNone/>
              <a:defRPr sz="7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Montserrat"/>
              <a:buNone/>
              <a:defRPr sz="7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Montserrat"/>
              <a:buNone/>
              <a:defRPr sz="7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en"/>
              <a:t>02</a:t>
            </a:r>
          </a:p>
        </p:txBody>
      </p:sp>
      <p:cxnSp>
        <p:nvCxnSpPr>
          <p:cNvPr id="4" name="Google Shape;209;p43">
            <a:extLst>
              <a:ext uri="{FF2B5EF4-FFF2-40B4-BE49-F238E27FC236}">
                <a16:creationId xmlns:a16="http://schemas.microsoft.com/office/drawing/2014/main" id="{C3060FCE-2309-0802-ED59-D7314212E7BB}"/>
              </a:ext>
            </a:extLst>
          </p:cNvPr>
          <p:cNvCxnSpPr>
            <a:cxnSpLocks/>
          </p:cNvCxnSpPr>
          <p:nvPr/>
        </p:nvCxnSpPr>
        <p:spPr>
          <a:xfrm>
            <a:off x="6877069" y="3831336"/>
            <a:ext cx="0" cy="722376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sp>
        <p:nvSpPr>
          <p:cNvPr id="5" name="Google Shape;206;p43">
            <a:extLst>
              <a:ext uri="{FF2B5EF4-FFF2-40B4-BE49-F238E27FC236}">
                <a16:creationId xmlns:a16="http://schemas.microsoft.com/office/drawing/2014/main" id="{6594B938-A007-2263-FC8C-EE1A133B6AF6}"/>
              </a:ext>
            </a:extLst>
          </p:cNvPr>
          <p:cNvSpPr txBox="1">
            <a:spLocks/>
          </p:cNvSpPr>
          <p:nvPr/>
        </p:nvSpPr>
        <p:spPr>
          <a:xfrm>
            <a:off x="1614082" y="4024889"/>
            <a:ext cx="3068700" cy="59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Montserrat ExtraBold"/>
              <a:buNone/>
              <a:defRPr sz="3600" b="0" i="0" u="none" strike="noStrike" cap="none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Montserrat"/>
              <a:buNone/>
              <a:defRPr sz="36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Montserrat"/>
              <a:buNone/>
              <a:defRPr sz="36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Montserrat"/>
              <a:buNone/>
              <a:defRPr sz="36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Montserrat"/>
              <a:buNone/>
              <a:defRPr sz="36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Montserrat"/>
              <a:buNone/>
              <a:defRPr sz="36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Montserrat"/>
              <a:buNone/>
              <a:defRPr sz="36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Montserrat"/>
              <a:buNone/>
              <a:defRPr sz="36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Montserrat"/>
              <a:buNone/>
              <a:defRPr sz="36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hu-HU"/>
              <a:t>XGBOOST</a:t>
            </a:r>
          </a:p>
        </p:txBody>
      </p:sp>
      <p:pic>
        <p:nvPicPr>
          <p:cNvPr id="8" name="Kép 7">
            <a:extLst>
              <a:ext uri="{FF2B5EF4-FFF2-40B4-BE49-F238E27FC236}">
                <a16:creationId xmlns:a16="http://schemas.microsoft.com/office/drawing/2014/main" id="{4692A8BD-4887-E967-388C-5B4F876DA7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1899" y="1394250"/>
            <a:ext cx="3194528" cy="2071291"/>
          </a:xfrm>
          <a:prstGeom prst="rect">
            <a:avLst/>
          </a:prstGeom>
        </p:spPr>
      </p:pic>
      <p:pic>
        <p:nvPicPr>
          <p:cNvPr id="9" name="Kép 8">
            <a:extLst>
              <a:ext uri="{FF2B5EF4-FFF2-40B4-BE49-F238E27FC236}">
                <a16:creationId xmlns:a16="http://schemas.microsoft.com/office/drawing/2014/main" id="{D8318E37-C876-BA59-F415-A81B5A0D39B6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12983" y="1461088"/>
            <a:ext cx="2487797" cy="2004453"/>
          </a:xfrm>
          <a:prstGeom prst="rect">
            <a:avLst/>
          </a:prstGeom>
        </p:spPr>
      </p:pic>
      <p:sp>
        <p:nvSpPr>
          <p:cNvPr id="15" name="Google Shape;184;p40">
            <a:extLst>
              <a:ext uri="{FF2B5EF4-FFF2-40B4-BE49-F238E27FC236}">
                <a16:creationId xmlns:a16="http://schemas.microsoft.com/office/drawing/2014/main" id="{0E26F66E-992F-945E-22C6-23C839161574}"/>
              </a:ext>
            </a:extLst>
          </p:cNvPr>
          <p:cNvSpPr txBox="1">
            <a:spLocks/>
          </p:cNvSpPr>
          <p:nvPr/>
        </p:nvSpPr>
        <p:spPr>
          <a:xfrm>
            <a:off x="-83192" y="4740820"/>
            <a:ext cx="890637" cy="402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hu-HU" dirty="0"/>
              <a:t>8/19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>
          <a:extLst>
            <a:ext uri="{FF2B5EF4-FFF2-40B4-BE49-F238E27FC236}">
              <a16:creationId xmlns:a16="http://schemas.microsoft.com/office/drawing/2014/main" id="{99FF405A-32C4-11D0-3DEB-EDE0311D25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44">
            <a:extLst>
              <a:ext uri="{FF2B5EF4-FFF2-40B4-BE49-F238E27FC236}">
                <a16:creationId xmlns:a16="http://schemas.microsoft.com/office/drawing/2014/main" id="{4296FDCD-95ED-6F3F-DE21-71D5C9BE235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69350" y="335297"/>
            <a:ext cx="6605300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dirty="0"/>
              <a:t>Train-Validation-Test</a:t>
            </a:r>
            <a:r>
              <a:rPr lang="en" dirty="0"/>
              <a:t> </a:t>
            </a:r>
            <a:r>
              <a:rPr lang="en" sz="3600" dirty="0"/>
              <a:t>split</a:t>
            </a:r>
            <a:endParaRPr dirty="0">
              <a:solidFill>
                <a:schemeClr val="accent1"/>
              </a:solidFill>
            </a:endParaRPr>
          </a:p>
        </p:txBody>
      </p:sp>
      <p:sp>
        <p:nvSpPr>
          <p:cNvPr id="215" name="Google Shape;215;p44">
            <a:extLst>
              <a:ext uri="{FF2B5EF4-FFF2-40B4-BE49-F238E27FC236}">
                <a16:creationId xmlns:a16="http://schemas.microsoft.com/office/drawing/2014/main" id="{4B98D1F2-9A9C-E1E4-D736-106B8A8CB6A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44724" y="1037483"/>
            <a:ext cx="7429926" cy="276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spcBef>
                <a:spcPts val="1600"/>
              </a:spcBef>
              <a:spcAft>
                <a:spcPts val="0"/>
              </a:spcAft>
              <a:buSzPts val="1400"/>
              <a:buChar char="●"/>
            </a:pPr>
            <a:r>
              <a:rPr lang="hu-HU" sz="1800" b="1" dirty="0"/>
              <a:t>70-15-15-ös felosztás</a:t>
            </a:r>
            <a:endParaRPr sz="1800" b="1" dirty="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hu-HU" sz="1800" b="1" dirty="0"/>
              <a:t>Adatszétválasztás meccsenként azaz(</a:t>
            </a:r>
            <a:r>
              <a:rPr lang="hu-HU" sz="1800" b="1" dirty="0" err="1"/>
              <a:t>csv</a:t>
            </a:r>
            <a:r>
              <a:rPr lang="hu-HU" sz="1800" b="1" dirty="0"/>
              <a:t> file-</a:t>
            </a:r>
            <a:r>
              <a:rPr lang="hu-HU" sz="1800" b="1" dirty="0" err="1"/>
              <a:t>onként</a:t>
            </a:r>
            <a:r>
              <a:rPr lang="hu-HU" sz="1800" b="1" dirty="0"/>
              <a:t>)</a:t>
            </a: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hu-HU" sz="1800" b="1" dirty="0"/>
              <a:t>Térképek darabszáma arányosan való elosztása</a:t>
            </a:r>
          </a:p>
        </p:txBody>
      </p:sp>
      <p:graphicFrame>
        <p:nvGraphicFramePr>
          <p:cNvPr id="2" name="Táblázat 1">
            <a:extLst>
              <a:ext uri="{FF2B5EF4-FFF2-40B4-BE49-F238E27FC236}">
                <a16:creationId xmlns:a16="http://schemas.microsoft.com/office/drawing/2014/main" id="{98A0018D-A01D-24AB-D1A8-43ED57F4D6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1354917"/>
              </p:ext>
            </p:extLst>
          </p:nvPr>
        </p:nvGraphicFramePr>
        <p:xfrm>
          <a:off x="624840" y="2855931"/>
          <a:ext cx="3465576" cy="1854200"/>
        </p:xfrm>
        <a:graphic>
          <a:graphicData uri="http://schemas.openxmlformats.org/drawingml/2006/table">
            <a:tbl>
              <a:tblPr firstRow="1" bandRow="1">
                <a:tableStyleId>{5EC55A3A-12E4-4EAA-9F97-E1828BEF49D7}</a:tableStyleId>
              </a:tblPr>
              <a:tblGrid>
                <a:gridCol w="1530096">
                  <a:extLst>
                    <a:ext uri="{9D8B030D-6E8A-4147-A177-3AD203B41FA5}">
                      <a16:colId xmlns:a16="http://schemas.microsoft.com/office/drawing/2014/main" val="416637149"/>
                    </a:ext>
                  </a:extLst>
                </a:gridCol>
                <a:gridCol w="509016">
                  <a:extLst>
                    <a:ext uri="{9D8B030D-6E8A-4147-A177-3AD203B41FA5}">
                      <a16:colId xmlns:a16="http://schemas.microsoft.com/office/drawing/2014/main" val="2205112743"/>
                    </a:ext>
                  </a:extLst>
                </a:gridCol>
                <a:gridCol w="1426464">
                  <a:extLst>
                    <a:ext uri="{9D8B030D-6E8A-4147-A177-3AD203B41FA5}">
                      <a16:colId xmlns:a16="http://schemas.microsoft.com/office/drawing/2014/main" val="11302349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hu-HU" b="1">
                          <a:solidFill>
                            <a:schemeClr val="bg1"/>
                          </a:solidFill>
                        </a:rPr>
                        <a:t>Train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hu-HU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b="1">
                          <a:solidFill>
                            <a:schemeClr val="bg1"/>
                          </a:solidFill>
                        </a:rPr>
                        <a:t>Test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1547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hu-HU" b="1">
                          <a:solidFill>
                            <a:schemeClr val="tx1">
                              <a:lumMod val="25000"/>
                              <a:lumOff val="75000"/>
                            </a:schemeClr>
                          </a:solidFill>
                        </a:rPr>
                        <a:t>Mérkőzés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hu-HU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b="1">
                          <a:solidFill>
                            <a:schemeClr val="tx1">
                              <a:lumMod val="25000"/>
                              <a:lumOff val="75000"/>
                            </a:schemeClr>
                          </a:solidFill>
                        </a:rPr>
                        <a:t>Mérkőzés 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75287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hu-HU" b="1" dirty="0">
                          <a:solidFill>
                            <a:srgbClr val="92D050"/>
                          </a:solidFill>
                        </a:rPr>
                        <a:t>Mérkőzés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hu-HU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b="1" dirty="0">
                          <a:solidFill>
                            <a:srgbClr val="92D050"/>
                          </a:solidFill>
                        </a:rPr>
                        <a:t>Mérkőzés 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066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hu-HU" b="1">
                          <a:solidFill>
                            <a:schemeClr val="tx1">
                              <a:lumMod val="25000"/>
                              <a:lumOff val="75000"/>
                            </a:schemeClr>
                          </a:solidFill>
                        </a:rPr>
                        <a:t>Mérkőzés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hu-HU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b="1">
                          <a:solidFill>
                            <a:schemeClr val="tx1">
                              <a:lumMod val="25000"/>
                              <a:lumOff val="75000"/>
                            </a:schemeClr>
                          </a:solidFill>
                        </a:rPr>
                        <a:t>Mérkőzés 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58814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hu-HU" b="1">
                          <a:solidFill>
                            <a:srgbClr val="92D050"/>
                          </a:solidFill>
                        </a:rPr>
                        <a:t>Mérkőzés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hu-HU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b="1" dirty="0">
                          <a:solidFill>
                            <a:srgbClr val="92D050"/>
                          </a:solidFill>
                        </a:rPr>
                        <a:t>Mérkőzés 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1774683"/>
                  </a:ext>
                </a:extLst>
              </a:tr>
            </a:tbl>
          </a:graphicData>
        </a:graphic>
      </p:graphicFrame>
      <p:graphicFrame>
        <p:nvGraphicFramePr>
          <p:cNvPr id="3" name="Táblázat 2">
            <a:extLst>
              <a:ext uri="{FF2B5EF4-FFF2-40B4-BE49-F238E27FC236}">
                <a16:creationId xmlns:a16="http://schemas.microsoft.com/office/drawing/2014/main" id="{5857085F-C0CF-CF72-0E56-5440DFD24B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7630877"/>
              </p:ext>
            </p:extLst>
          </p:nvPr>
        </p:nvGraphicFramePr>
        <p:xfrm>
          <a:off x="4572000" y="2855931"/>
          <a:ext cx="3459480" cy="1854200"/>
        </p:xfrm>
        <a:graphic>
          <a:graphicData uri="http://schemas.openxmlformats.org/drawingml/2006/table">
            <a:tbl>
              <a:tblPr firstRow="1" bandRow="1">
                <a:tableStyleId>{5EC55A3A-12E4-4EAA-9F97-E1828BEF49D7}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416637149"/>
                    </a:ext>
                  </a:extLst>
                </a:gridCol>
                <a:gridCol w="509016">
                  <a:extLst>
                    <a:ext uri="{9D8B030D-6E8A-4147-A177-3AD203B41FA5}">
                      <a16:colId xmlns:a16="http://schemas.microsoft.com/office/drawing/2014/main" val="2205112743"/>
                    </a:ext>
                  </a:extLst>
                </a:gridCol>
                <a:gridCol w="1426464">
                  <a:extLst>
                    <a:ext uri="{9D8B030D-6E8A-4147-A177-3AD203B41FA5}">
                      <a16:colId xmlns:a16="http://schemas.microsoft.com/office/drawing/2014/main" val="11302349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hu-HU" b="1">
                          <a:solidFill>
                            <a:schemeClr val="bg1"/>
                          </a:solidFill>
                        </a:rPr>
                        <a:t>Train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hu-HU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b="1">
                          <a:solidFill>
                            <a:schemeClr val="bg1"/>
                          </a:solidFill>
                        </a:rPr>
                        <a:t>Test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21274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hu-HU" b="1">
                          <a:solidFill>
                            <a:schemeClr val="tx1">
                              <a:lumMod val="25000"/>
                              <a:lumOff val="75000"/>
                            </a:schemeClr>
                          </a:solidFill>
                        </a:rPr>
                        <a:t>Mérkőzés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hu-HU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b="1">
                          <a:solidFill>
                            <a:srgbClr val="EFD100"/>
                          </a:solidFill>
                        </a:rPr>
                        <a:t>Mérkőzés 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75287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hu-HU" b="1">
                          <a:solidFill>
                            <a:schemeClr val="tx1">
                              <a:lumMod val="25000"/>
                              <a:lumOff val="75000"/>
                            </a:schemeClr>
                          </a:solidFill>
                        </a:rPr>
                        <a:t>Mérkőzés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hu-HU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b="1">
                          <a:solidFill>
                            <a:srgbClr val="EFD100"/>
                          </a:solidFill>
                        </a:rPr>
                        <a:t>Mérkőzés 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066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hu-HU" b="1">
                          <a:solidFill>
                            <a:srgbClr val="92D050"/>
                          </a:solidFill>
                        </a:rPr>
                        <a:t>Mérkőzés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hu-HU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b="1">
                          <a:solidFill>
                            <a:srgbClr val="EFD100"/>
                          </a:solidFill>
                        </a:rPr>
                        <a:t>Mérkőzés 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58814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hu-HU" b="1">
                          <a:solidFill>
                            <a:srgbClr val="92D050"/>
                          </a:solidFill>
                        </a:rPr>
                        <a:t>Mérkőzés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hu-HU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b="1">
                          <a:solidFill>
                            <a:srgbClr val="EFD100"/>
                          </a:solidFill>
                        </a:rPr>
                        <a:t>Mérkőzés 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1774683"/>
                  </a:ext>
                </a:extLst>
              </a:tr>
            </a:tbl>
          </a:graphicData>
        </a:graphic>
      </p:graphicFrame>
      <p:sp>
        <p:nvSpPr>
          <p:cNvPr id="6" name="Google Shape;214;p44">
            <a:extLst>
              <a:ext uri="{FF2B5EF4-FFF2-40B4-BE49-F238E27FC236}">
                <a16:creationId xmlns:a16="http://schemas.microsoft.com/office/drawing/2014/main" id="{40E12CDE-6A92-D64F-284D-1D00E8911B3E}"/>
              </a:ext>
            </a:extLst>
          </p:cNvPr>
          <p:cNvSpPr txBox="1">
            <a:spLocks/>
          </p:cNvSpPr>
          <p:nvPr/>
        </p:nvSpPr>
        <p:spPr>
          <a:xfrm>
            <a:off x="287894" y="2153100"/>
            <a:ext cx="4261104" cy="529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Montserrat ExtraBold"/>
              <a:buNone/>
              <a:defRPr sz="2400" b="0" i="0" u="none" strike="noStrike" cap="none">
                <a:solidFill>
                  <a:schemeClr val="accen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algn="ctr"/>
            <a:r>
              <a:rPr lang="hu-HU" dirty="0"/>
              <a:t>Rossz </a:t>
            </a:r>
            <a:r>
              <a:rPr lang="hu-HU" dirty="0" err="1"/>
              <a:t>split</a:t>
            </a:r>
            <a:endParaRPr lang="hu-HU" dirty="0"/>
          </a:p>
          <a:p>
            <a:pPr algn="ctr"/>
            <a:r>
              <a:rPr lang="hu-HU" sz="1100" dirty="0"/>
              <a:t>(ugyanaz a meccs több </a:t>
            </a:r>
            <a:r>
              <a:rPr lang="hu-HU" sz="1100" dirty="0" err="1"/>
              <a:t>splitben</a:t>
            </a:r>
            <a:r>
              <a:rPr lang="hu-HU" sz="1100" dirty="0"/>
              <a:t> is megjelenik)</a:t>
            </a:r>
            <a:endParaRPr lang="hu-HU" sz="900" dirty="0"/>
          </a:p>
        </p:txBody>
      </p:sp>
      <p:sp>
        <p:nvSpPr>
          <p:cNvPr id="7" name="Google Shape;214;p44">
            <a:extLst>
              <a:ext uri="{FF2B5EF4-FFF2-40B4-BE49-F238E27FC236}">
                <a16:creationId xmlns:a16="http://schemas.microsoft.com/office/drawing/2014/main" id="{3E1B754A-51A0-665A-F8F6-BB03408C04C8}"/>
              </a:ext>
            </a:extLst>
          </p:cNvPr>
          <p:cNvSpPr txBox="1">
            <a:spLocks/>
          </p:cNvSpPr>
          <p:nvPr/>
        </p:nvSpPr>
        <p:spPr>
          <a:xfrm>
            <a:off x="4159687" y="2127481"/>
            <a:ext cx="4261104" cy="529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Montserrat ExtraBold"/>
              <a:buNone/>
              <a:defRPr sz="2400" b="0" i="0" u="none" strike="noStrike" cap="none">
                <a:solidFill>
                  <a:schemeClr val="accen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algn="ctr"/>
            <a:r>
              <a:rPr lang="hu-HU" dirty="0"/>
              <a:t>Korrekt </a:t>
            </a:r>
            <a:r>
              <a:rPr lang="hu-HU" dirty="0" err="1"/>
              <a:t>split</a:t>
            </a:r>
            <a:endParaRPr lang="hu-HU" dirty="0"/>
          </a:p>
          <a:p>
            <a:pPr algn="ctr"/>
            <a:r>
              <a:rPr lang="hu-HU" sz="1100" dirty="0"/>
              <a:t>(</a:t>
            </a:r>
            <a:r>
              <a:rPr lang="hu-HU" sz="1200" dirty="0"/>
              <a:t>egy teljes </a:t>
            </a:r>
            <a:r>
              <a:rPr lang="hu-HU" sz="1100" dirty="0"/>
              <a:t>meccs</a:t>
            </a:r>
            <a:r>
              <a:rPr lang="hu-HU" sz="1200" dirty="0"/>
              <a:t> csak egy </a:t>
            </a:r>
            <a:r>
              <a:rPr lang="hu-HU" sz="1200" dirty="0" err="1"/>
              <a:t>splitbe</a:t>
            </a:r>
            <a:r>
              <a:rPr lang="hu-HU" sz="1200" dirty="0"/>
              <a:t> kerül</a:t>
            </a:r>
            <a:r>
              <a:rPr lang="hu-HU" sz="1100" dirty="0"/>
              <a:t>)</a:t>
            </a:r>
            <a:endParaRPr lang="hu-HU" sz="900" dirty="0"/>
          </a:p>
        </p:txBody>
      </p:sp>
      <p:sp>
        <p:nvSpPr>
          <p:cNvPr id="8" name="Google Shape;184;p40">
            <a:extLst>
              <a:ext uri="{FF2B5EF4-FFF2-40B4-BE49-F238E27FC236}">
                <a16:creationId xmlns:a16="http://schemas.microsoft.com/office/drawing/2014/main" id="{514CE292-DFEC-D20C-37E0-E0E99015604D}"/>
              </a:ext>
            </a:extLst>
          </p:cNvPr>
          <p:cNvSpPr txBox="1">
            <a:spLocks/>
          </p:cNvSpPr>
          <p:nvPr/>
        </p:nvSpPr>
        <p:spPr>
          <a:xfrm>
            <a:off x="-157425" y="4740820"/>
            <a:ext cx="890637" cy="402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hu-HU" dirty="0"/>
              <a:t>9/19</a:t>
            </a:r>
          </a:p>
        </p:txBody>
      </p:sp>
    </p:spTree>
    <p:extLst>
      <p:ext uri="{BB962C8B-B14F-4D97-AF65-F5344CB8AC3E}">
        <p14:creationId xmlns:p14="http://schemas.microsoft.com/office/powerpoint/2010/main" val="14135854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FF51F51-9AD8-260C-FE77-2FD7B91550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0438" y="252625"/>
            <a:ext cx="7483124" cy="941400"/>
          </a:xfrm>
        </p:spPr>
        <p:txBody>
          <a:bodyPr/>
          <a:lstStyle/>
          <a:p>
            <a:r>
              <a:rPr lang="hu-HU" sz="3600"/>
              <a:t>Hiperparaméter optimalizálás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91E2311C-8131-BB04-D1CC-1320528BD9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76244" y="1465486"/>
            <a:ext cx="4946400" cy="1887648"/>
          </a:xfrm>
        </p:spPr>
        <p:txBody>
          <a:bodyPr/>
          <a:lstStyle/>
          <a:p>
            <a:r>
              <a:rPr lang="hu-HU" b="1"/>
              <a:t>manuális próbálkozások</a:t>
            </a:r>
          </a:p>
          <a:p>
            <a:endParaRPr lang="hu-HU" b="1"/>
          </a:p>
          <a:p>
            <a:r>
              <a:rPr lang="hu-HU" b="1"/>
              <a:t>grid search, random search</a:t>
            </a:r>
          </a:p>
          <a:p>
            <a:endParaRPr lang="hu-HU" b="1"/>
          </a:p>
          <a:p>
            <a:r>
              <a:rPr lang="hu-HU" b="1"/>
              <a:t>validációs metrikák</a:t>
            </a:r>
          </a:p>
          <a:p>
            <a:endParaRPr lang="hu-HU" b="1"/>
          </a:p>
          <a:p>
            <a:r>
              <a:rPr lang="hu-HU" b="1"/>
              <a:t>early stopping</a:t>
            </a:r>
          </a:p>
          <a:p>
            <a:pPr marL="139700" indent="0">
              <a:buNone/>
            </a:pPr>
            <a:endParaRPr lang="hu-HU"/>
          </a:p>
        </p:txBody>
      </p:sp>
      <p:sp>
        <p:nvSpPr>
          <p:cNvPr id="5" name="Szövegdoboz 4">
            <a:extLst>
              <a:ext uri="{FF2B5EF4-FFF2-40B4-BE49-F238E27FC236}">
                <a16:creationId xmlns:a16="http://schemas.microsoft.com/office/drawing/2014/main" id="{186AA37B-7CBB-0212-5540-2F25BB94C62B}"/>
              </a:ext>
            </a:extLst>
          </p:cNvPr>
          <p:cNvSpPr txBox="1"/>
          <p:nvPr/>
        </p:nvSpPr>
        <p:spPr>
          <a:xfrm>
            <a:off x="664664" y="1009359"/>
            <a:ext cx="54579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hu-HU" sz="1800" b="1" i="0">
                <a:solidFill>
                  <a:schemeClr val="bg2"/>
                </a:solidFill>
                <a:effectLst/>
                <a:latin typeface="-apple-system"/>
              </a:rPr>
              <a:t>Mind a két modellnél használtam:</a:t>
            </a:r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FDDD32FA-1F01-B4F3-4587-A2B99F577AD8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69470" y="2135425"/>
            <a:ext cx="2832771" cy="2674620"/>
          </a:xfrm>
          <a:prstGeom prst="rect">
            <a:avLst/>
          </a:prstGeom>
        </p:spPr>
      </p:pic>
      <p:sp>
        <p:nvSpPr>
          <p:cNvPr id="7" name="Google Shape;184;p40">
            <a:extLst>
              <a:ext uri="{FF2B5EF4-FFF2-40B4-BE49-F238E27FC236}">
                <a16:creationId xmlns:a16="http://schemas.microsoft.com/office/drawing/2014/main" id="{D3B4C41A-C25B-339E-BA03-4C4C1E387979}"/>
              </a:ext>
            </a:extLst>
          </p:cNvPr>
          <p:cNvSpPr txBox="1">
            <a:spLocks/>
          </p:cNvSpPr>
          <p:nvPr/>
        </p:nvSpPr>
        <p:spPr>
          <a:xfrm>
            <a:off x="-157425" y="4740820"/>
            <a:ext cx="890637" cy="402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hu-HU" dirty="0"/>
              <a:t>10/19</a:t>
            </a:r>
          </a:p>
        </p:txBody>
      </p:sp>
    </p:spTree>
    <p:extLst>
      <p:ext uri="{BB962C8B-B14F-4D97-AF65-F5344CB8AC3E}">
        <p14:creationId xmlns:p14="http://schemas.microsoft.com/office/powerpoint/2010/main" val="4206118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44"/>
          <p:cNvSpPr txBox="1">
            <a:spLocks noGrp="1"/>
          </p:cNvSpPr>
          <p:nvPr>
            <p:ph type="title"/>
          </p:nvPr>
        </p:nvSpPr>
        <p:spPr>
          <a:xfrm>
            <a:off x="773908" y="249900"/>
            <a:ext cx="6394988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Első XGBOOST modellek</a:t>
            </a:r>
            <a:endParaRPr sz="3600">
              <a:solidFill>
                <a:schemeClr val="accent1"/>
              </a:solidFill>
            </a:endParaRPr>
          </a:p>
        </p:txBody>
      </p:sp>
      <p:sp>
        <p:nvSpPr>
          <p:cNvPr id="215" name="Google Shape;215;p44"/>
          <p:cNvSpPr txBox="1">
            <a:spLocks noGrp="1"/>
          </p:cNvSpPr>
          <p:nvPr>
            <p:ph type="body" idx="1"/>
          </p:nvPr>
        </p:nvSpPr>
        <p:spPr>
          <a:xfrm>
            <a:off x="609316" y="1191300"/>
            <a:ext cx="6724172" cy="276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b="1" dirty="0">
                <a:solidFill>
                  <a:schemeClr val="bg1"/>
                </a:solidFill>
              </a:rPr>
              <a:t>A gránát és a gránát nélküli jellemzőkkel tanított modelleken megvizsgáltam milyen helyességgel jósol a modell egyes gránát csoportok aktivitáskor. Hasonló értékeket kaptam kivéve a villanógránátnál, ahol erre a mérésre 45.93% jött ki ami nagyon alacsony volt a többihez képest.</a:t>
            </a:r>
            <a:endParaRPr b="1" dirty="0">
              <a:solidFill>
                <a:schemeClr val="bg1"/>
              </a:solidFill>
            </a:endParaRPr>
          </a:p>
        </p:txBody>
      </p:sp>
      <p:sp>
        <p:nvSpPr>
          <p:cNvPr id="3" name="Google Shape;214;p44">
            <a:extLst>
              <a:ext uri="{FF2B5EF4-FFF2-40B4-BE49-F238E27FC236}">
                <a16:creationId xmlns:a16="http://schemas.microsoft.com/office/drawing/2014/main" id="{7E2C9A8B-49D3-BB41-6E89-7A8B13A41349}"/>
              </a:ext>
            </a:extLst>
          </p:cNvPr>
          <p:cNvSpPr txBox="1">
            <a:spLocks/>
          </p:cNvSpPr>
          <p:nvPr/>
        </p:nvSpPr>
        <p:spPr>
          <a:xfrm>
            <a:off x="280132" y="3010800"/>
            <a:ext cx="6148100" cy="94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Montserrat ExtraBold"/>
              <a:buNone/>
              <a:defRPr sz="2400" b="0" i="0" u="none" strike="noStrike" cap="none">
                <a:solidFill>
                  <a:schemeClr val="accen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hu-HU" sz="2000">
                <a:solidFill>
                  <a:schemeClr val="bg2"/>
                </a:solidFill>
              </a:rPr>
              <a:t>Innentől a vizsgált modellek: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2000">
                <a:solidFill>
                  <a:schemeClr val="bg2"/>
                </a:solidFill>
              </a:rPr>
              <a:t>Gránátjellemzők nélkül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2000">
                <a:solidFill>
                  <a:schemeClr val="bg2"/>
                </a:solidFill>
              </a:rPr>
              <a:t>Gránátjellemzőkkel/villanógránát nélkül </a:t>
            </a:r>
          </a:p>
        </p:txBody>
      </p:sp>
      <p:sp>
        <p:nvSpPr>
          <p:cNvPr id="4" name="Google Shape;184;p40">
            <a:extLst>
              <a:ext uri="{FF2B5EF4-FFF2-40B4-BE49-F238E27FC236}">
                <a16:creationId xmlns:a16="http://schemas.microsoft.com/office/drawing/2014/main" id="{B7B438BC-6240-081C-604F-09AEA86245D1}"/>
              </a:ext>
            </a:extLst>
          </p:cNvPr>
          <p:cNvSpPr txBox="1">
            <a:spLocks/>
          </p:cNvSpPr>
          <p:nvPr/>
        </p:nvSpPr>
        <p:spPr>
          <a:xfrm>
            <a:off x="-157425" y="4740820"/>
            <a:ext cx="890637" cy="402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hu-HU" dirty="0"/>
              <a:t>11/19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45"/>
          <p:cNvSpPr txBox="1">
            <a:spLocks noGrp="1"/>
          </p:cNvSpPr>
          <p:nvPr>
            <p:ph type="title" idx="4"/>
          </p:nvPr>
        </p:nvSpPr>
        <p:spPr>
          <a:xfrm>
            <a:off x="2146111" y="84399"/>
            <a:ext cx="4629300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Eredmények</a:t>
            </a:r>
            <a:endParaRPr sz="3600"/>
          </a:p>
        </p:txBody>
      </p:sp>
      <p:sp>
        <p:nvSpPr>
          <p:cNvPr id="223" name="Google Shape;223;p45"/>
          <p:cNvSpPr txBox="1">
            <a:spLocks noGrp="1"/>
          </p:cNvSpPr>
          <p:nvPr>
            <p:ph type="title"/>
          </p:nvPr>
        </p:nvSpPr>
        <p:spPr>
          <a:xfrm>
            <a:off x="189669" y="1374955"/>
            <a:ext cx="3114758" cy="54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1. </a:t>
            </a:r>
            <a:r>
              <a:rPr lang="en" dirty="0" err="1"/>
              <a:t>Gránát</a:t>
            </a:r>
            <a:r>
              <a:rPr lang="en" dirty="0"/>
              <a:t> </a:t>
            </a:r>
            <a:r>
              <a:rPr lang="en" dirty="0" err="1"/>
              <a:t>jellemzőkkel</a:t>
            </a:r>
            <a:r>
              <a:rPr lang="en" dirty="0"/>
              <a:t>,</a:t>
            </a:r>
            <a:br>
              <a:rPr lang="en" dirty="0"/>
            </a:br>
            <a:r>
              <a:rPr lang="en" dirty="0" err="1"/>
              <a:t>villanógránát</a:t>
            </a:r>
            <a:r>
              <a:rPr lang="en" dirty="0"/>
              <a:t> </a:t>
            </a:r>
            <a:r>
              <a:rPr lang="en" dirty="0" err="1"/>
              <a:t>nélkül</a:t>
            </a:r>
            <a:endParaRPr dirty="0"/>
          </a:p>
        </p:txBody>
      </p:sp>
      <p:sp>
        <p:nvSpPr>
          <p:cNvPr id="224" name="Google Shape;224;p45"/>
          <p:cNvSpPr txBox="1">
            <a:spLocks noGrp="1"/>
          </p:cNvSpPr>
          <p:nvPr>
            <p:ph type="subTitle" idx="1"/>
          </p:nvPr>
        </p:nvSpPr>
        <p:spPr>
          <a:xfrm>
            <a:off x="3561624" y="3148608"/>
            <a:ext cx="5313854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b="1">
                <a:solidFill>
                  <a:schemeClr val="bg2"/>
                </a:solidFill>
              </a:rPr>
              <a:t>A kérdés az, hogy kapunk-e a gránátjellmezőkkel többletinformációt a másik modellhez képest.</a:t>
            </a:r>
            <a:endParaRPr b="1">
              <a:solidFill>
                <a:schemeClr val="bg2"/>
              </a:solidFill>
            </a:endParaRPr>
          </a:p>
        </p:txBody>
      </p:sp>
      <p:sp>
        <p:nvSpPr>
          <p:cNvPr id="225" name="Google Shape;225;p45"/>
          <p:cNvSpPr txBox="1">
            <a:spLocks noGrp="1"/>
          </p:cNvSpPr>
          <p:nvPr>
            <p:ph type="title" idx="2"/>
          </p:nvPr>
        </p:nvSpPr>
        <p:spPr>
          <a:xfrm>
            <a:off x="3689708" y="1236802"/>
            <a:ext cx="3358173" cy="54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/>
              <a:t>2. Gránát jellemzők nélkül</a:t>
            </a:r>
            <a:endParaRPr/>
          </a:p>
        </p:txBody>
      </p:sp>
      <p:cxnSp>
        <p:nvCxnSpPr>
          <p:cNvPr id="227" name="Google Shape;227;p45"/>
          <p:cNvCxnSpPr>
            <a:cxnSpLocks/>
          </p:cNvCxnSpPr>
          <p:nvPr/>
        </p:nvCxnSpPr>
        <p:spPr>
          <a:xfrm>
            <a:off x="429768" y="1909759"/>
            <a:ext cx="2615184" cy="13596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cxnSp>
        <p:nvCxnSpPr>
          <p:cNvPr id="3" name="Google Shape;227;p45">
            <a:extLst>
              <a:ext uri="{FF2B5EF4-FFF2-40B4-BE49-F238E27FC236}">
                <a16:creationId xmlns:a16="http://schemas.microsoft.com/office/drawing/2014/main" id="{18D880AF-C79F-8DC7-4B70-423C3EC80DA7}"/>
              </a:ext>
            </a:extLst>
          </p:cNvPr>
          <p:cNvCxnSpPr>
            <a:cxnSpLocks/>
          </p:cNvCxnSpPr>
          <p:nvPr/>
        </p:nvCxnSpPr>
        <p:spPr>
          <a:xfrm>
            <a:off x="3854965" y="1696332"/>
            <a:ext cx="3001557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sp>
        <p:nvSpPr>
          <p:cNvPr id="5" name="Google Shape;2054;p60">
            <a:extLst>
              <a:ext uri="{FF2B5EF4-FFF2-40B4-BE49-F238E27FC236}">
                <a16:creationId xmlns:a16="http://schemas.microsoft.com/office/drawing/2014/main" id="{1B7F5B74-AA71-4836-2887-40DFFE0508FC}"/>
              </a:ext>
            </a:extLst>
          </p:cNvPr>
          <p:cNvSpPr/>
          <p:nvPr/>
        </p:nvSpPr>
        <p:spPr>
          <a:xfrm>
            <a:off x="717306" y="2006240"/>
            <a:ext cx="1819200" cy="18192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2056;p60">
            <a:extLst>
              <a:ext uri="{FF2B5EF4-FFF2-40B4-BE49-F238E27FC236}">
                <a16:creationId xmlns:a16="http://schemas.microsoft.com/office/drawing/2014/main" id="{E3E71D78-425A-B2A0-22A7-002F2A037C97}"/>
              </a:ext>
            </a:extLst>
          </p:cNvPr>
          <p:cNvSpPr txBox="1">
            <a:spLocks/>
          </p:cNvSpPr>
          <p:nvPr/>
        </p:nvSpPr>
        <p:spPr>
          <a:xfrm>
            <a:off x="899496" y="2292784"/>
            <a:ext cx="1454820" cy="6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Char char="●"/>
              <a:defRPr sz="18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indent="0" algn="ctr">
              <a:spcAft>
                <a:spcPts val="1600"/>
              </a:spcAft>
              <a:buFont typeface="Montserrat"/>
              <a:buNone/>
            </a:pPr>
            <a:r>
              <a:rPr lang="hu-HU" sz="1400" b="1">
                <a:solidFill>
                  <a:schemeClr val="accent6"/>
                </a:solidFill>
              </a:rPr>
              <a:t>Accuracy: 76.36%</a:t>
            </a:r>
          </a:p>
          <a:p>
            <a:pPr marL="0" indent="0" algn="ctr">
              <a:spcAft>
                <a:spcPts val="1600"/>
              </a:spcAft>
              <a:buFont typeface="Montserrat"/>
              <a:buNone/>
            </a:pPr>
            <a:r>
              <a:rPr lang="hu-HU" sz="1400" b="1">
                <a:solidFill>
                  <a:schemeClr val="accent6"/>
                </a:solidFill>
              </a:rPr>
              <a:t>ROC AUC:</a:t>
            </a:r>
            <a:br>
              <a:rPr lang="hu-HU" sz="1400" b="1">
                <a:solidFill>
                  <a:schemeClr val="accent6"/>
                </a:solidFill>
              </a:rPr>
            </a:br>
            <a:r>
              <a:rPr lang="hu-HU" sz="1400" b="1">
                <a:solidFill>
                  <a:schemeClr val="accent6"/>
                </a:solidFill>
              </a:rPr>
              <a:t>86.05%</a:t>
            </a:r>
          </a:p>
        </p:txBody>
      </p:sp>
      <p:cxnSp>
        <p:nvCxnSpPr>
          <p:cNvPr id="8" name="Google Shape;2065;p60">
            <a:extLst>
              <a:ext uri="{FF2B5EF4-FFF2-40B4-BE49-F238E27FC236}">
                <a16:creationId xmlns:a16="http://schemas.microsoft.com/office/drawing/2014/main" id="{82C53C01-20FB-CE73-139E-B57773F45F11}"/>
              </a:ext>
            </a:extLst>
          </p:cNvPr>
          <p:cNvCxnSpPr>
            <a:cxnSpLocks/>
            <a:stCxn id="5" idx="4"/>
          </p:cNvCxnSpPr>
          <p:nvPr/>
        </p:nvCxnSpPr>
        <p:spPr>
          <a:xfrm>
            <a:off x="1626906" y="3825440"/>
            <a:ext cx="0" cy="131806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" name="Google Shape;2060;p60">
            <a:extLst>
              <a:ext uri="{FF2B5EF4-FFF2-40B4-BE49-F238E27FC236}">
                <a16:creationId xmlns:a16="http://schemas.microsoft.com/office/drawing/2014/main" id="{F296A416-BB3F-1A16-9275-3177982CC5FD}"/>
              </a:ext>
            </a:extLst>
          </p:cNvPr>
          <p:cNvSpPr/>
          <p:nvPr/>
        </p:nvSpPr>
        <p:spPr>
          <a:xfrm>
            <a:off x="7156862" y="642544"/>
            <a:ext cx="1819200" cy="18192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5" name="Google Shape;2063;p60">
            <a:extLst>
              <a:ext uri="{FF2B5EF4-FFF2-40B4-BE49-F238E27FC236}">
                <a16:creationId xmlns:a16="http://schemas.microsoft.com/office/drawing/2014/main" id="{0D7A8F82-C113-3A16-E094-39F6CD098A88}"/>
              </a:ext>
            </a:extLst>
          </p:cNvPr>
          <p:cNvCxnSpPr>
            <a:cxnSpLocks/>
          </p:cNvCxnSpPr>
          <p:nvPr/>
        </p:nvCxnSpPr>
        <p:spPr>
          <a:xfrm flipH="1" flipV="1">
            <a:off x="8066447" y="0"/>
            <a:ext cx="15" cy="697876"/>
          </a:xfrm>
          <a:prstGeom prst="straightConnector1">
            <a:avLst/>
          </a:prstGeom>
          <a:noFill/>
          <a:ln w="19050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" name="Google Shape;2056;p60">
            <a:extLst>
              <a:ext uri="{FF2B5EF4-FFF2-40B4-BE49-F238E27FC236}">
                <a16:creationId xmlns:a16="http://schemas.microsoft.com/office/drawing/2014/main" id="{01BD5DA3-A80E-ED80-8A44-39E6F9DD8C9A}"/>
              </a:ext>
            </a:extLst>
          </p:cNvPr>
          <p:cNvSpPr txBox="1">
            <a:spLocks/>
          </p:cNvSpPr>
          <p:nvPr/>
        </p:nvSpPr>
        <p:spPr>
          <a:xfrm>
            <a:off x="7339037" y="944710"/>
            <a:ext cx="1454820" cy="6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Char char="●"/>
              <a:defRPr sz="18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indent="0" algn="ctr">
              <a:spcAft>
                <a:spcPts val="1600"/>
              </a:spcAft>
              <a:buFont typeface="Montserrat"/>
              <a:buNone/>
            </a:pPr>
            <a:r>
              <a:rPr lang="hu-HU" sz="1400" b="1">
                <a:solidFill>
                  <a:schemeClr val="accent6"/>
                </a:solidFill>
              </a:rPr>
              <a:t>Accuracy: 76.26%</a:t>
            </a:r>
          </a:p>
          <a:p>
            <a:pPr marL="0" indent="0" algn="ctr">
              <a:spcAft>
                <a:spcPts val="1600"/>
              </a:spcAft>
              <a:buFont typeface="Montserrat"/>
              <a:buNone/>
            </a:pPr>
            <a:r>
              <a:rPr lang="hu-HU" sz="1400" b="1">
                <a:solidFill>
                  <a:schemeClr val="accent6"/>
                </a:solidFill>
              </a:rPr>
              <a:t>ROC AUC:</a:t>
            </a:r>
            <a:br>
              <a:rPr lang="hu-HU" sz="1400" b="1">
                <a:solidFill>
                  <a:schemeClr val="accent6"/>
                </a:solidFill>
              </a:rPr>
            </a:br>
            <a:r>
              <a:rPr lang="hu-HU" sz="1400" b="1">
                <a:solidFill>
                  <a:schemeClr val="accent6"/>
                </a:solidFill>
              </a:rPr>
              <a:t>86.04%</a:t>
            </a:r>
          </a:p>
        </p:txBody>
      </p:sp>
      <p:sp>
        <p:nvSpPr>
          <p:cNvPr id="21" name="Google Shape;224;p45">
            <a:extLst>
              <a:ext uri="{FF2B5EF4-FFF2-40B4-BE49-F238E27FC236}">
                <a16:creationId xmlns:a16="http://schemas.microsoft.com/office/drawing/2014/main" id="{FF388817-7F52-07C7-4FD0-861C7CA2DBF5}"/>
              </a:ext>
            </a:extLst>
          </p:cNvPr>
          <p:cNvSpPr txBox="1">
            <a:spLocks/>
          </p:cNvSpPr>
          <p:nvPr/>
        </p:nvSpPr>
        <p:spPr>
          <a:xfrm>
            <a:off x="3561624" y="3707166"/>
            <a:ext cx="5313854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indent="0"/>
            <a:r>
              <a:rPr lang="hu-HU" sz="1800" b="1" i="1">
                <a:solidFill>
                  <a:schemeClr val="tx2"/>
                </a:solidFill>
              </a:rPr>
              <a:t>A válasz pedig az, hogy globálisan jelentéktelen az információnyereség</a:t>
            </a:r>
          </a:p>
        </p:txBody>
      </p:sp>
      <p:sp>
        <p:nvSpPr>
          <p:cNvPr id="25" name="Google Shape;184;p40">
            <a:extLst>
              <a:ext uri="{FF2B5EF4-FFF2-40B4-BE49-F238E27FC236}">
                <a16:creationId xmlns:a16="http://schemas.microsoft.com/office/drawing/2014/main" id="{7C1F0AF0-0786-47B4-3789-282547679FE8}"/>
              </a:ext>
            </a:extLst>
          </p:cNvPr>
          <p:cNvSpPr txBox="1">
            <a:spLocks/>
          </p:cNvSpPr>
          <p:nvPr/>
        </p:nvSpPr>
        <p:spPr>
          <a:xfrm>
            <a:off x="-157425" y="4740820"/>
            <a:ext cx="890637" cy="402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hu-HU" dirty="0"/>
              <a:t>12/19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ím 5">
            <a:extLst>
              <a:ext uri="{FF2B5EF4-FFF2-40B4-BE49-F238E27FC236}">
                <a16:creationId xmlns:a16="http://schemas.microsoft.com/office/drawing/2014/main" id="{07234ECB-A7F8-49B3-8C37-E922831F0FB6}"/>
              </a:ext>
            </a:extLst>
          </p:cNvPr>
          <p:cNvSpPr>
            <a:spLocks noGrp="1"/>
          </p:cNvSpPr>
          <p:nvPr>
            <p:ph type="title" idx="4"/>
          </p:nvPr>
        </p:nvSpPr>
        <p:spPr>
          <a:xfrm>
            <a:off x="2706878" y="125903"/>
            <a:ext cx="4629300" cy="597391"/>
          </a:xfrm>
        </p:spPr>
        <p:txBody>
          <a:bodyPr/>
          <a:lstStyle/>
          <a:p>
            <a:r>
              <a:rPr lang="hu-HU" sz="3600"/>
              <a:t>Következtetés</a:t>
            </a:r>
          </a:p>
        </p:txBody>
      </p:sp>
      <p:graphicFrame>
        <p:nvGraphicFramePr>
          <p:cNvPr id="7" name="Táblázat 6">
            <a:extLst>
              <a:ext uri="{FF2B5EF4-FFF2-40B4-BE49-F238E27FC236}">
                <a16:creationId xmlns:a16="http://schemas.microsoft.com/office/drawing/2014/main" id="{0A6D02D5-DEA0-9AF0-BE42-7502624E45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2539673"/>
              </p:ext>
            </p:extLst>
          </p:nvPr>
        </p:nvGraphicFramePr>
        <p:xfrm>
          <a:off x="760678" y="920710"/>
          <a:ext cx="4260850" cy="4070910"/>
        </p:xfrm>
        <a:graphic>
          <a:graphicData uri="http://schemas.openxmlformats.org/drawingml/2006/table">
            <a:tbl>
              <a:tblPr>
                <a:noFill/>
                <a:tableStyleId>{5EC55A3A-12E4-4EAA-9F97-E1828BEF49D7}</a:tableStyleId>
              </a:tblPr>
              <a:tblGrid>
                <a:gridCol w="2331466">
                  <a:extLst>
                    <a:ext uri="{9D8B030D-6E8A-4147-A177-3AD203B41FA5}">
                      <a16:colId xmlns:a16="http://schemas.microsoft.com/office/drawing/2014/main" val="1410985880"/>
                    </a:ext>
                  </a:extLst>
                </a:gridCol>
                <a:gridCol w="1929384">
                  <a:extLst>
                    <a:ext uri="{9D8B030D-6E8A-4147-A177-3AD203B41FA5}">
                      <a16:colId xmlns:a16="http://schemas.microsoft.com/office/drawing/2014/main" val="255171547"/>
                    </a:ext>
                  </a:extLst>
                </a:gridCol>
              </a:tblGrid>
              <a:tr h="734422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lt1"/>
                        </a:solidFill>
                        <a:latin typeface="Montserrat ExtraBold"/>
                        <a:ea typeface="Montserrat ExtraBold"/>
                        <a:cs typeface="Montserrat ExtraBold"/>
                        <a:sym typeface="Montserrat ExtraBol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Montserrat ExtraBold"/>
                          <a:ea typeface="Montserrat ExtraBold"/>
                          <a:cs typeface="Montserrat ExtraBold"/>
                          <a:sym typeface="Montserrat ExtraBold"/>
                        </a:rPr>
                        <a:t>Modell győzelmi arány</a:t>
                      </a:r>
                      <a:endParaRPr>
                        <a:solidFill>
                          <a:schemeClr val="lt1"/>
                        </a:solidFill>
                        <a:latin typeface="Montserrat ExtraBold"/>
                        <a:ea typeface="Montserrat ExtraBold"/>
                        <a:cs typeface="Montserrat ExtraBold"/>
                        <a:sym typeface="Montserrat ExtraBol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295243"/>
                  </a:ext>
                </a:extLst>
              </a:tr>
              <a:tr h="464359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Montserrat ExtraBold"/>
                          <a:ea typeface="Montserrat ExtraBold"/>
                          <a:cs typeface="Montserrat ExtraBold"/>
                          <a:sym typeface="Montserrat ExtraBold"/>
                        </a:rPr>
                        <a:t>Minden eset</a:t>
                      </a:r>
                      <a:endParaRPr>
                        <a:solidFill>
                          <a:schemeClr val="lt1"/>
                        </a:solidFill>
                        <a:latin typeface="Montserrat ExtraBold"/>
                        <a:ea typeface="Montserrat ExtraBold"/>
                        <a:cs typeface="Montserrat ExtraBold"/>
                        <a:sym typeface="Montserrat ExtraBol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52.66%</a:t>
                      </a:r>
                      <a:endParaRPr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70711451"/>
                  </a:ext>
                </a:extLst>
              </a:tr>
              <a:tr h="464359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Montserrat ExtraBold"/>
                          <a:ea typeface="Montserrat ExtraBold"/>
                          <a:cs typeface="Montserrat ExtraBold"/>
                          <a:sym typeface="Montserrat ExtraBold"/>
                        </a:rPr>
                        <a:t>Aktív gránátok</a:t>
                      </a:r>
                      <a:endParaRPr>
                        <a:solidFill>
                          <a:schemeClr val="lt1"/>
                        </a:solidFill>
                        <a:latin typeface="Montserrat ExtraBold"/>
                        <a:ea typeface="Montserrat ExtraBold"/>
                        <a:cs typeface="Montserrat ExtraBold"/>
                        <a:sym typeface="Montserrat ExtraBol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52.89%</a:t>
                      </a:r>
                      <a:endParaRPr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08681706"/>
                  </a:ext>
                </a:extLst>
              </a:tr>
              <a:tr h="380457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Montserrat ExtraBold"/>
                          <a:ea typeface="Montserrat ExtraBold"/>
                          <a:cs typeface="Montserrat ExtraBold"/>
                          <a:sym typeface="Montserrat ExtraBold"/>
                        </a:rPr>
                        <a:t>Sok gránát akció</a:t>
                      </a:r>
                      <a:endParaRPr>
                        <a:solidFill>
                          <a:schemeClr val="lt1"/>
                        </a:solidFill>
                        <a:latin typeface="Montserrat ExtraBold"/>
                        <a:ea typeface="Montserrat ExtraBold"/>
                        <a:cs typeface="Montserrat ExtraBold"/>
                        <a:sym typeface="Montserrat ExtraBol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u-HU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52.97%</a:t>
                      </a:r>
                      <a:endParaRPr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05267291"/>
                  </a:ext>
                </a:extLst>
              </a:tr>
              <a:tr h="380457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u-HU">
                          <a:solidFill>
                            <a:schemeClr val="lt1"/>
                          </a:solidFill>
                          <a:latin typeface="Montserrat ExtraBold"/>
                          <a:ea typeface="Montserrat ExtraBold"/>
                          <a:cs typeface="Montserrat ExtraBold"/>
                          <a:sym typeface="Montserrat ExtraBold"/>
                        </a:rPr>
                        <a:t>Gránát sebzés</a:t>
                      </a:r>
                      <a:endParaRPr>
                        <a:solidFill>
                          <a:schemeClr val="lt1"/>
                        </a:solidFill>
                        <a:latin typeface="Montserrat ExtraBold"/>
                        <a:ea typeface="Montserrat ExtraBold"/>
                        <a:cs typeface="Montserrat ExtraBold"/>
                        <a:sym typeface="Montserrat ExtraBol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51.92%</a:t>
                      </a:r>
                      <a:endParaRPr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9945228"/>
                  </a:ext>
                </a:extLst>
              </a:tr>
              <a:tr h="585334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u-HU">
                          <a:solidFill>
                            <a:schemeClr val="lt1"/>
                          </a:solidFill>
                          <a:latin typeface="Montserrat ExtraBold"/>
                          <a:ea typeface="Montserrat ExtraBold"/>
                          <a:cs typeface="Montserrat ExtraBold"/>
                          <a:sym typeface="Montserrat ExtraBold"/>
                        </a:rPr>
                        <a:t>Aktív füst vagy molotov</a:t>
                      </a:r>
                      <a:endParaRPr>
                        <a:solidFill>
                          <a:schemeClr val="lt1"/>
                        </a:solidFill>
                        <a:latin typeface="Montserrat ExtraBold"/>
                        <a:ea typeface="Montserrat ExtraBold"/>
                        <a:cs typeface="Montserrat ExtraBold"/>
                        <a:sym typeface="Montserrat ExtraBol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u-HU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53.36%</a:t>
                      </a:r>
                      <a:endParaRPr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55294217"/>
                  </a:ext>
                </a:extLst>
              </a:tr>
              <a:tr h="585334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u-HU">
                          <a:solidFill>
                            <a:schemeClr val="lt1"/>
                          </a:solidFill>
                          <a:latin typeface="Montserrat ExtraBold"/>
                          <a:ea typeface="Montserrat ExtraBold"/>
                          <a:cs typeface="Montserrat ExtraBold"/>
                          <a:sym typeface="Montserrat ExtraBold"/>
                        </a:rPr>
                        <a:t>Elmúlt 5 másodperc gránát</a:t>
                      </a:r>
                      <a:endParaRPr>
                        <a:solidFill>
                          <a:schemeClr val="lt1"/>
                        </a:solidFill>
                        <a:latin typeface="Montserrat ExtraBold"/>
                        <a:ea typeface="Montserrat ExtraBold"/>
                        <a:cs typeface="Montserrat ExtraBold"/>
                        <a:sym typeface="Montserrat ExtraBol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u-HU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51.95%</a:t>
                      </a:r>
                      <a:endParaRPr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37741362"/>
                  </a:ext>
                </a:extLst>
              </a:tr>
              <a:tr h="380457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u-HU">
                          <a:solidFill>
                            <a:schemeClr val="lt1"/>
                          </a:solidFill>
                          <a:latin typeface="Montserrat ExtraBold"/>
                          <a:ea typeface="Montserrat ExtraBold"/>
                          <a:cs typeface="Montserrat ExtraBold"/>
                          <a:sym typeface="Montserrat ExtraBold"/>
                        </a:rPr>
                        <a:t>Villanógránát effekt</a:t>
                      </a:r>
                      <a:endParaRPr>
                        <a:solidFill>
                          <a:schemeClr val="lt1"/>
                        </a:solidFill>
                        <a:latin typeface="Montserrat ExtraBold"/>
                        <a:ea typeface="Montserrat ExtraBold"/>
                        <a:cs typeface="Montserrat ExtraBold"/>
                        <a:sym typeface="Montserrat ExtraBol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u-HU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49.54%</a:t>
                      </a:r>
                      <a:endParaRPr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550530"/>
                  </a:ext>
                </a:extLst>
              </a:tr>
            </a:tbl>
          </a:graphicData>
        </a:graphic>
      </p:graphicFrame>
      <p:sp>
        <p:nvSpPr>
          <p:cNvPr id="8" name="Cím 5">
            <a:extLst>
              <a:ext uri="{FF2B5EF4-FFF2-40B4-BE49-F238E27FC236}">
                <a16:creationId xmlns:a16="http://schemas.microsoft.com/office/drawing/2014/main" id="{D6AFE18C-F331-A11B-F8FB-1A469FC3D020}"/>
              </a:ext>
            </a:extLst>
          </p:cNvPr>
          <p:cNvSpPr txBox="1">
            <a:spLocks/>
          </p:cNvSpPr>
          <p:nvPr/>
        </p:nvSpPr>
        <p:spPr>
          <a:xfrm>
            <a:off x="5065776" y="2152823"/>
            <a:ext cx="4078224" cy="2382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Montserrat ExtraBold"/>
              <a:buNone/>
              <a:defRPr sz="2400" b="0" i="0" u="none" strike="noStrike" cap="none">
                <a:solidFill>
                  <a:schemeClr val="accen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1800">
                <a:solidFill>
                  <a:schemeClr val="bg2"/>
                </a:solidFill>
              </a:rPr>
              <a:t>	A gránát jellemzők aktívak -&gt; erős javulás a gránát nélküli modellhez mérve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1800">
                <a:solidFill>
                  <a:schemeClr val="bg2"/>
                </a:solidFill>
              </a:rPr>
              <a:t>	Gránát nélküli modell minnél bizonytalanabb -&gt; gránátos annál pontosabban segít</a:t>
            </a:r>
          </a:p>
        </p:txBody>
      </p:sp>
      <p:sp>
        <p:nvSpPr>
          <p:cNvPr id="9" name="Google Shape;184;p40">
            <a:extLst>
              <a:ext uri="{FF2B5EF4-FFF2-40B4-BE49-F238E27FC236}">
                <a16:creationId xmlns:a16="http://schemas.microsoft.com/office/drawing/2014/main" id="{231C7DDF-AB6E-ACEB-56AE-1025472510BE}"/>
              </a:ext>
            </a:extLst>
          </p:cNvPr>
          <p:cNvSpPr txBox="1">
            <a:spLocks/>
          </p:cNvSpPr>
          <p:nvPr/>
        </p:nvSpPr>
        <p:spPr>
          <a:xfrm>
            <a:off x="-174207" y="4740820"/>
            <a:ext cx="890637" cy="402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hu-HU" dirty="0"/>
              <a:t>13/19</a:t>
            </a:r>
          </a:p>
        </p:txBody>
      </p:sp>
    </p:spTree>
    <p:extLst>
      <p:ext uri="{BB962C8B-B14F-4D97-AF65-F5344CB8AC3E}">
        <p14:creationId xmlns:p14="http://schemas.microsoft.com/office/powerpoint/2010/main" val="5123324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1">
          <a:extLst>
            <a:ext uri="{FF2B5EF4-FFF2-40B4-BE49-F238E27FC236}">
              <a16:creationId xmlns:a16="http://schemas.microsoft.com/office/drawing/2014/main" id="{2FBE83CC-1827-3FD1-EED7-3D55C33CA0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4" name="Google Shape;2054;p60">
            <a:extLst>
              <a:ext uri="{FF2B5EF4-FFF2-40B4-BE49-F238E27FC236}">
                <a16:creationId xmlns:a16="http://schemas.microsoft.com/office/drawing/2014/main" id="{439926EB-BB0F-71CF-3F3F-96069B3A1597}"/>
              </a:ext>
            </a:extLst>
          </p:cNvPr>
          <p:cNvSpPr/>
          <p:nvPr/>
        </p:nvSpPr>
        <p:spPr>
          <a:xfrm>
            <a:off x="1077905" y="2739425"/>
            <a:ext cx="1819200" cy="18192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7" name="Google Shape;2057;p60">
            <a:extLst>
              <a:ext uri="{FF2B5EF4-FFF2-40B4-BE49-F238E27FC236}">
                <a16:creationId xmlns:a16="http://schemas.microsoft.com/office/drawing/2014/main" id="{4A67B07B-DDD7-79BD-7499-1A12B8323BE8}"/>
              </a:ext>
            </a:extLst>
          </p:cNvPr>
          <p:cNvSpPr/>
          <p:nvPr/>
        </p:nvSpPr>
        <p:spPr>
          <a:xfrm>
            <a:off x="3279750" y="1606525"/>
            <a:ext cx="2584500" cy="25845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9" name="Google Shape;2059;p60">
            <a:extLst>
              <a:ext uri="{FF2B5EF4-FFF2-40B4-BE49-F238E27FC236}">
                <a16:creationId xmlns:a16="http://schemas.microsoft.com/office/drawing/2014/main" id="{3FBFAAD5-275B-A709-4794-71799B03EC81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3662400" y="2421875"/>
            <a:ext cx="1819200" cy="6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 algn="ctr">
              <a:spcAft>
                <a:spcPts val="1600"/>
              </a:spcAft>
              <a:buNone/>
            </a:pPr>
            <a:r>
              <a:rPr lang="hu-HU" sz="2400" b="1">
                <a:solidFill>
                  <a:schemeClr val="accent6"/>
                </a:solidFill>
              </a:rPr>
              <a:t>ROC AUC:</a:t>
            </a:r>
            <a:br>
              <a:rPr lang="hu-HU" sz="2400" b="1">
                <a:solidFill>
                  <a:schemeClr val="accent6"/>
                </a:solidFill>
              </a:rPr>
            </a:br>
            <a:r>
              <a:rPr lang="hu-HU" sz="2400" b="1">
                <a:solidFill>
                  <a:schemeClr val="accent6"/>
                </a:solidFill>
              </a:rPr>
              <a:t>86.18%</a:t>
            </a:r>
          </a:p>
        </p:txBody>
      </p:sp>
      <p:sp>
        <p:nvSpPr>
          <p:cNvPr id="2060" name="Google Shape;2060;p60">
            <a:extLst>
              <a:ext uri="{FF2B5EF4-FFF2-40B4-BE49-F238E27FC236}">
                <a16:creationId xmlns:a16="http://schemas.microsoft.com/office/drawing/2014/main" id="{72E6341A-36AF-0370-00D4-130D7BEFB323}"/>
              </a:ext>
            </a:extLst>
          </p:cNvPr>
          <p:cNvSpPr/>
          <p:nvPr/>
        </p:nvSpPr>
        <p:spPr>
          <a:xfrm>
            <a:off x="6246905" y="1319200"/>
            <a:ext cx="1819200" cy="18192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2" name="Google Shape;2062;p60">
            <a:extLst>
              <a:ext uri="{FF2B5EF4-FFF2-40B4-BE49-F238E27FC236}">
                <a16:creationId xmlns:a16="http://schemas.microsoft.com/office/drawing/2014/main" id="{7CC28021-CE61-498C-07BE-F5F9EE74A845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6246914" y="1692999"/>
            <a:ext cx="1819191" cy="6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600" b="1">
                <a:solidFill>
                  <a:schemeClr val="accent6"/>
                </a:solidFill>
              </a:rPr>
              <a:t>16 pillanattképes időablakkal</a:t>
            </a:r>
            <a:endParaRPr sz="1600" b="1">
              <a:solidFill>
                <a:schemeClr val="accent6"/>
              </a:solidFill>
            </a:endParaRPr>
          </a:p>
        </p:txBody>
      </p:sp>
      <p:cxnSp>
        <p:nvCxnSpPr>
          <p:cNvPr id="2063" name="Google Shape;2063;p60">
            <a:extLst>
              <a:ext uri="{FF2B5EF4-FFF2-40B4-BE49-F238E27FC236}">
                <a16:creationId xmlns:a16="http://schemas.microsoft.com/office/drawing/2014/main" id="{DE82A514-0044-E21A-1F43-6B2024FBCF5C}"/>
              </a:ext>
            </a:extLst>
          </p:cNvPr>
          <p:cNvCxnSpPr>
            <a:stCxn id="2060" idx="0"/>
          </p:cNvCxnSpPr>
          <p:nvPr/>
        </p:nvCxnSpPr>
        <p:spPr>
          <a:xfrm rot="10800000">
            <a:off x="7156505" y="-320000"/>
            <a:ext cx="0" cy="1639200"/>
          </a:xfrm>
          <a:prstGeom prst="straightConnector1">
            <a:avLst/>
          </a:prstGeom>
          <a:noFill/>
          <a:ln w="19050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64" name="Google Shape;2064;p60">
            <a:extLst>
              <a:ext uri="{FF2B5EF4-FFF2-40B4-BE49-F238E27FC236}">
                <a16:creationId xmlns:a16="http://schemas.microsoft.com/office/drawing/2014/main" id="{B9EA6717-4B48-E2DA-1CCA-C611430BC446}"/>
              </a:ext>
            </a:extLst>
          </p:cNvPr>
          <p:cNvCxnSpPr>
            <a:cxnSpLocks/>
            <a:stCxn id="2057" idx="4"/>
          </p:cNvCxnSpPr>
          <p:nvPr/>
        </p:nvCxnSpPr>
        <p:spPr>
          <a:xfrm>
            <a:off x="4572000" y="4191025"/>
            <a:ext cx="0" cy="952475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65" name="Google Shape;2065;p60">
            <a:extLst>
              <a:ext uri="{FF2B5EF4-FFF2-40B4-BE49-F238E27FC236}">
                <a16:creationId xmlns:a16="http://schemas.microsoft.com/office/drawing/2014/main" id="{1D23C622-5526-B305-080A-9311AA658944}"/>
              </a:ext>
            </a:extLst>
          </p:cNvPr>
          <p:cNvCxnSpPr>
            <a:cxnSpLocks/>
            <a:stCxn id="2054" idx="4"/>
          </p:cNvCxnSpPr>
          <p:nvPr/>
        </p:nvCxnSpPr>
        <p:spPr>
          <a:xfrm flipH="1">
            <a:off x="1987494" y="4558625"/>
            <a:ext cx="11" cy="584875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Cím 2">
            <a:extLst>
              <a:ext uri="{FF2B5EF4-FFF2-40B4-BE49-F238E27FC236}">
                <a16:creationId xmlns:a16="http://schemas.microsoft.com/office/drawing/2014/main" id="{D6AA3066-987E-B15D-860B-DD586C5D0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49590" y="244525"/>
            <a:ext cx="1931999" cy="941400"/>
          </a:xfrm>
        </p:spPr>
        <p:txBody>
          <a:bodyPr/>
          <a:lstStyle/>
          <a:p>
            <a:r>
              <a:rPr lang="hu-HU" sz="4400"/>
              <a:t>LSTM</a:t>
            </a:r>
          </a:p>
        </p:txBody>
      </p:sp>
      <p:sp>
        <p:nvSpPr>
          <p:cNvPr id="4" name="Google Shape;2056;p60">
            <a:extLst>
              <a:ext uri="{FF2B5EF4-FFF2-40B4-BE49-F238E27FC236}">
                <a16:creationId xmlns:a16="http://schemas.microsoft.com/office/drawing/2014/main" id="{28DFCBAD-A37C-0E40-B921-2681CB486A26}"/>
              </a:ext>
            </a:extLst>
          </p:cNvPr>
          <p:cNvSpPr txBox="1">
            <a:spLocks/>
          </p:cNvSpPr>
          <p:nvPr/>
        </p:nvSpPr>
        <p:spPr>
          <a:xfrm>
            <a:off x="1169005" y="3178401"/>
            <a:ext cx="1637000" cy="941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Char char="●"/>
              <a:defRPr sz="18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indent="0" algn="ctr">
              <a:spcAft>
                <a:spcPts val="1600"/>
              </a:spcAft>
              <a:buFont typeface="Montserrat"/>
              <a:buNone/>
            </a:pPr>
            <a:r>
              <a:rPr lang="hu-HU" sz="2000" b="1">
                <a:solidFill>
                  <a:schemeClr val="accent6"/>
                </a:solidFill>
              </a:rPr>
              <a:t>Accuracy: 76.70%</a:t>
            </a:r>
          </a:p>
        </p:txBody>
      </p:sp>
      <p:sp>
        <p:nvSpPr>
          <p:cNvPr id="5" name="Google Shape;224;p45">
            <a:extLst>
              <a:ext uri="{FF2B5EF4-FFF2-40B4-BE49-F238E27FC236}">
                <a16:creationId xmlns:a16="http://schemas.microsoft.com/office/drawing/2014/main" id="{82BBD8B5-C923-428A-CB2A-85E38E2DAD34}"/>
              </a:ext>
            </a:extLst>
          </p:cNvPr>
          <p:cNvSpPr txBox="1">
            <a:spLocks/>
          </p:cNvSpPr>
          <p:nvPr/>
        </p:nvSpPr>
        <p:spPr>
          <a:xfrm>
            <a:off x="0" y="1091525"/>
            <a:ext cx="4154685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hu-HU" b="1">
                <a:solidFill>
                  <a:schemeClr val="bg2"/>
                </a:solidFill>
              </a:rPr>
              <a:t>Globálisan minimális javulás, de itt sem ez a végleges megállapítás</a:t>
            </a:r>
          </a:p>
        </p:txBody>
      </p:sp>
      <p:sp>
        <p:nvSpPr>
          <p:cNvPr id="2" name="Google Shape;224;p45">
            <a:extLst>
              <a:ext uri="{FF2B5EF4-FFF2-40B4-BE49-F238E27FC236}">
                <a16:creationId xmlns:a16="http://schemas.microsoft.com/office/drawing/2014/main" id="{807E6D44-D53F-0178-DDB6-5B2CE6393256}"/>
              </a:ext>
            </a:extLst>
          </p:cNvPr>
          <p:cNvSpPr txBox="1">
            <a:spLocks/>
          </p:cNvSpPr>
          <p:nvPr/>
        </p:nvSpPr>
        <p:spPr>
          <a:xfrm>
            <a:off x="5687568" y="3790471"/>
            <a:ext cx="3334405" cy="8767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indent="0"/>
            <a:r>
              <a:rPr lang="hu-HU" sz="2400" b="1" i="1">
                <a:solidFill>
                  <a:schemeClr val="tx2"/>
                </a:solidFill>
              </a:rPr>
              <a:t>Meg kell vizsgálni lokálisan</a:t>
            </a:r>
          </a:p>
        </p:txBody>
      </p:sp>
      <p:sp>
        <p:nvSpPr>
          <p:cNvPr id="6" name="Google Shape;184;p40">
            <a:extLst>
              <a:ext uri="{FF2B5EF4-FFF2-40B4-BE49-F238E27FC236}">
                <a16:creationId xmlns:a16="http://schemas.microsoft.com/office/drawing/2014/main" id="{4513F1F5-F6E0-C01B-489F-47A0813CC2D7}"/>
              </a:ext>
            </a:extLst>
          </p:cNvPr>
          <p:cNvSpPr txBox="1">
            <a:spLocks/>
          </p:cNvSpPr>
          <p:nvPr/>
        </p:nvSpPr>
        <p:spPr>
          <a:xfrm>
            <a:off x="-174207" y="4740820"/>
            <a:ext cx="890637" cy="402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hu-HU" dirty="0"/>
              <a:t>14/19</a:t>
            </a:r>
          </a:p>
        </p:txBody>
      </p:sp>
    </p:spTree>
    <p:extLst>
      <p:ext uri="{BB962C8B-B14F-4D97-AF65-F5344CB8AC3E}">
        <p14:creationId xmlns:p14="http://schemas.microsoft.com/office/powerpoint/2010/main" val="37654680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ím 5">
            <a:extLst>
              <a:ext uri="{FF2B5EF4-FFF2-40B4-BE49-F238E27FC236}">
                <a16:creationId xmlns:a16="http://schemas.microsoft.com/office/drawing/2014/main" id="{A6578F5C-438B-ED00-2952-78814702535A}"/>
              </a:ext>
            </a:extLst>
          </p:cNvPr>
          <p:cNvSpPr>
            <a:spLocks noGrp="1"/>
          </p:cNvSpPr>
          <p:nvPr>
            <p:ph type="title" idx="4"/>
          </p:nvPr>
        </p:nvSpPr>
        <p:spPr>
          <a:xfrm>
            <a:off x="86868" y="289625"/>
            <a:ext cx="8970264" cy="941400"/>
          </a:xfrm>
        </p:spPr>
        <p:txBody>
          <a:bodyPr/>
          <a:lstStyle/>
          <a:p>
            <a:r>
              <a:rPr lang="hu-HU" sz="3200"/>
              <a:t>LSTM Explainability ridge regression-nel</a:t>
            </a:r>
          </a:p>
        </p:txBody>
      </p:sp>
      <p:pic>
        <p:nvPicPr>
          <p:cNvPr id="7" name="Kép 6">
            <a:extLst>
              <a:ext uri="{FF2B5EF4-FFF2-40B4-BE49-F238E27FC236}">
                <a16:creationId xmlns:a16="http://schemas.microsoft.com/office/drawing/2014/main" id="{565C8E7B-0232-C864-96E6-4BA96A19E7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5590" y="1520686"/>
            <a:ext cx="6320517" cy="2703841"/>
          </a:xfrm>
          <a:prstGeom prst="rect">
            <a:avLst/>
          </a:prstGeom>
        </p:spPr>
      </p:pic>
      <p:sp>
        <p:nvSpPr>
          <p:cNvPr id="8" name="Google Shape;184;p40">
            <a:extLst>
              <a:ext uri="{FF2B5EF4-FFF2-40B4-BE49-F238E27FC236}">
                <a16:creationId xmlns:a16="http://schemas.microsoft.com/office/drawing/2014/main" id="{DD18BB77-3F88-BDD9-B1A2-49AA995B9CD8}"/>
              </a:ext>
            </a:extLst>
          </p:cNvPr>
          <p:cNvSpPr txBox="1">
            <a:spLocks/>
          </p:cNvSpPr>
          <p:nvPr/>
        </p:nvSpPr>
        <p:spPr>
          <a:xfrm>
            <a:off x="-174207" y="4740820"/>
            <a:ext cx="890637" cy="402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hu-HU" dirty="0"/>
              <a:t>15/19</a:t>
            </a:r>
          </a:p>
        </p:txBody>
      </p:sp>
    </p:spTree>
    <p:extLst>
      <p:ext uri="{BB962C8B-B14F-4D97-AF65-F5344CB8AC3E}">
        <p14:creationId xmlns:p14="http://schemas.microsoft.com/office/powerpoint/2010/main" val="17499921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Kép 6">
            <a:extLst>
              <a:ext uri="{FF2B5EF4-FFF2-40B4-BE49-F238E27FC236}">
                <a16:creationId xmlns:a16="http://schemas.microsoft.com/office/drawing/2014/main" id="{66C88A70-8E05-A9B1-DBE1-F3A80B35C9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650402" cy="2724912"/>
          </a:xfrm>
          <a:prstGeom prst="rect">
            <a:avLst/>
          </a:prstGeom>
        </p:spPr>
      </p:pic>
      <p:pic>
        <p:nvPicPr>
          <p:cNvPr id="8" name="Kép 7">
            <a:extLst>
              <a:ext uri="{FF2B5EF4-FFF2-40B4-BE49-F238E27FC236}">
                <a16:creationId xmlns:a16="http://schemas.microsoft.com/office/drawing/2014/main" id="{4673E102-6C7C-3EF2-6415-3A492B3AFB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4396" y="2645397"/>
            <a:ext cx="4959604" cy="2498103"/>
          </a:xfrm>
          <a:prstGeom prst="rect">
            <a:avLst/>
          </a:prstGeom>
        </p:spPr>
      </p:pic>
      <p:sp>
        <p:nvSpPr>
          <p:cNvPr id="10" name="Cím 5">
            <a:extLst>
              <a:ext uri="{FF2B5EF4-FFF2-40B4-BE49-F238E27FC236}">
                <a16:creationId xmlns:a16="http://schemas.microsoft.com/office/drawing/2014/main" id="{3C1990CD-1652-64C7-5F46-25D01CD6AC36}"/>
              </a:ext>
            </a:extLst>
          </p:cNvPr>
          <p:cNvSpPr txBox="1">
            <a:spLocks/>
          </p:cNvSpPr>
          <p:nvPr/>
        </p:nvSpPr>
        <p:spPr>
          <a:xfrm>
            <a:off x="5362956" y="1002857"/>
            <a:ext cx="3515868" cy="94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Montserrat ExtraBold"/>
              <a:buNone/>
              <a:defRPr sz="2400" b="0" i="0" u="none" strike="noStrike" cap="none">
                <a:solidFill>
                  <a:schemeClr val="accen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hu-HU" sz="3200"/>
              <a:t>Következtetés</a:t>
            </a:r>
          </a:p>
        </p:txBody>
      </p:sp>
      <p:sp>
        <p:nvSpPr>
          <p:cNvPr id="11" name="Google Shape;224;p45">
            <a:extLst>
              <a:ext uri="{FF2B5EF4-FFF2-40B4-BE49-F238E27FC236}">
                <a16:creationId xmlns:a16="http://schemas.microsoft.com/office/drawing/2014/main" id="{7488BA9B-6C8A-41D2-635C-E01F826DA460}"/>
              </a:ext>
            </a:extLst>
          </p:cNvPr>
          <p:cNvSpPr txBox="1">
            <a:spLocks/>
          </p:cNvSpPr>
          <p:nvPr/>
        </p:nvSpPr>
        <p:spPr>
          <a:xfrm>
            <a:off x="29711" y="3426052"/>
            <a:ext cx="4154685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hu-HU" b="1">
                <a:solidFill>
                  <a:schemeClr val="bg2"/>
                </a:solidFill>
              </a:rPr>
              <a:t>Míg az XGBoost esetében a villanógránát jellemzők inkább zajosnak tűntek, az LSTM időbeli kontextusban jobban tudta kihasználni a hatásukat.</a:t>
            </a:r>
          </a:p>
        </p:txBody>
      </p:sp>
      <p:sp>
        <p:nvSpPr>
          <p:cNvPr id="12" name="Google Shape;184;p40">
            <a:extLst>
              <a:ext uri="{FF2B5EF4-FFF2-40B4-BE49-F238E27FC236}">
                <a16:creationId xmlns:a16="http://schemas.microsoft.com/office/drawing/2014/main" id="{F5971914-EB71-F0BC-A74B-0EDF7F318663}"/>
              </a:ext>
            </a:extLst>
          </p:cNvPr>
          <p:cNvSpPr txBox="1">
            <a:spLocks/>
          </p:cNvSpPr>
          <p:nvPr/>
        </p:nvSpPr>
        <p:spPr>
          <a:xfrm>
            <a:off x="-174207" y="4740820"/>
            <a:ext cx="890637" cy="402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hu-HU" dirty="0"/>
              <a:t>16/19</a:t>
            </a:r>
          </a:p>
        </p:txBody>
      </p:sp>
    </p:spTree>
    <p:extLst>
      <p:ext uri="{BB962C8B-B14F-4D97-AF65-F5344CB8AC3E}">
        <p14:creationId xmlns:p14="http://schemas.microsoft.com/office/powerpoint/2010/main" val="19983101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A1D1F7-EAAD-9F70-0AEC-78019ECFE6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ím 5">
            <a:extLst>
              <a:ext uri="{FF2B5EF4-FFF2-40B4-BE49-F238E27FC236}">
                <a16:creationId xmlns:a16="http://schemas.microsoft.com/office/drawing/2014/main" id="{D8728331-DE9C-1756-44F5-94D4EFA929BA}"/>
              </a:ext>
            </a:extLst>
          </p:cNvPr>
          <p:cNvSpPr>
            <a:spLocks noGrp="1"/>
          </p:cNvSpPr>
          <p:nvPr>
            <p:ph type="title" idx="4"/>
          </p:nvPr>
        </p:nvSpPr>
        <p:spPr>
          <a:xfrm>
            <a:off x="4572" y="4269091"/>
            <a:ext cx="8970264" cy="941400"/>
          </a:xfrm>
        </p:spPr>
        <p:txBody>
          <a:bodyPr/>
          <a:lstStyle/>
          <a:p>
            <a:pPr algn="ctr"/>
            <a:r>
              <a:rPr lang="hu-HU" sz="1400">
                <a:solidFill>
                  <a:schemeClr val="bg2"/>
                </a:solidFill>
              </a:rPr>
              <a:t>Az LSTM részletesebben tudta megragadni a körön belüli időbeli összefüggéseket.</a:t>
            </a:r>
            <a:endParaRPr lang="hu-HU" sz="1800">
              <a:solidFill>
                <a:schemeClr val="bg2"/>
              </a:solidFill>
            </a:endParaRPr>
          </a:p>
        </p:txBody>
      </p:sp>
      <p:pic>
        <p:nvPicPr>
          <p:cNvPr id="2" name="Kép 1">
            <a:extLst>
              <a:ext uri="{FF2B5EF4-FFF2-40B4-BE49-F238E27FC236}">
                <a16:creationId xmlns:a16="http://schemas.microsoft.com/office/drawing/2014/main" id="{70BFB174-902F-2344-BAED-AB9E9CA935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3554" y="760325"/>
            <a:ext cx="6972300" cy="3124200"/>
          </a:xfrm>
          <a:prstGeom prst="rect">
            <a:avLst/>
          </a:prstGeom>
        </p:spPr>
      </p:pic>
      <p:sp>
        <p:nvSpPr>
          <p:cNvPr id="3" name="Google Shape;184;p40">
            <a:extLst>
              <a:ext uri="{FF2B5EF4-FFF2-40B4-BE49-F238E27FC236}">
                <a16:creationId xmlns:a16="http://schemas.microsoft.com/office/drawing/2014/main" id="{64DE5B0A-19CF-158F-7722-E7F6CC2E6D30}"/>
              </a:ext>
            </a:extLst>
          </p:cNvPr>
          <p:cNvSpPr txBox="1">
            <a:spLocks/>
          </p:cNvSpPr>
          <p:nvPr/>
        </p:nvSpPr>
        <p:spPr>
          <a:xfrm>
            <a:off x="-174207" y="4740820"/>
            <a:ext cx="890637" cy="402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hu-HU" dirty="0"/>
              <a:t>17/19</a:t>
            </a:r>
          </a:p>
        </p:txBody>
      </p:sp>
    </p:spTree>
    <p:extLst>
      <p:ext uri="{BB962C8B-B14F-4D97-AF65-F5344CB8AC3E}">
        <p14:creationId xmlns:p14="http://schemas.microsoft.com/office/powerpoint/2010/main" val="21333563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46"/>
          <p:cNvSpPr txBox="1">
            <a:spLocks noGrp="1"/>
          </p:cNvSpPr>
          <p:nvPr>
            <p:ph type="title" idx="4"/>
          </p:nvPr>
        </p:nvSpPr>
        <p:spPr>
          <a:xfrm>
            <a:off x="0" y="243195"/>
            <a:ext cx="9144000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bg1"/>
                </a:solidFill>
              </a:rPr>
              <a:t>Összefoglalás, végső gondolatok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35" name="Google Shape;235;p46"/>
          <p:cNvSpPr txBox="1">
            <a:spLocks noGrp="1"/>
          </p:cNvSpPr>
          <p:nvPr>
            <p:ph type="title"/>
          </p:nvPr>
        </p:nvSpPr>
        <p:spPr>
          <a:xfrm>
            <a:off x="0" y="1869679"/>
            <a:ext cx="8942832" cy="54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algn="l"/>
            <a:r>
              <a:rPr lang="hu-HU" sz="1600">
                <a:solidFill>
                  <a:schemeClr val="tx2"/>
                </a:solidFill>
              </a:rPr>
              <a:t>A gránátjellemzők globálisan kis, de lokálisan hasznos többletinformációt adtak.</a:t>
            </a:r>
          </a:p>
        </p:txBody>
      </p:sp>
      <p:sp>
        <p:nvSpPr>
          <p:cNvPr id="237" name="Google Shape;237;p46"/>
          <p:cNvSpPr txBox="1">
            <a:spLocks noGrp="1"/>
          </p:cNvSpPr>
          <p:nvPr>
            <p:ph type="title" idx="2"/>
          </p:nvPr>
        </p:nvSpPr>
        <p:spPr>
          <a:xfrm>
            <a:off x="1184350" y="2571750"/>
            <a:ext cx="7959650" cy="54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algn="r"/>
            <a:r>
              <a:rPr lang="hu-HU" sz="1600">
                <a:solidFill>
                  <a:schemeClr val="bg2"/>
                </a:solidFill>
              </a:rPr>
              <a:t>A villanógránát jellemzők XGBoost mellett zajosabbnak tűntek.</a:t>
            </a:r>
          </a:p>
        </p:txBody>
      </p:sp>
      <p:sp>
        <p:nvSpPr>
          <p:cNvPr id="239" name="Google Shape;239;p46"/>
          <p:cNvSpPr txBox="1">
            <a:spLocks noGrp="1"/>
          </p:cNvSpPr>
          <p:nvPr>
            <p:ph type="title" idx="5"/>
          </p:nvPr>
        </p:nvSpPr>
        <p:spPr>
          <a:xfrm>
            <a:off x="1" y="1090181"/>
            <a:ext cx="9143999" cy="54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algn="r"/>
            <a:r>
              <a:rPr lang="hu-HU" sz="1600">
                <a:solidFill>
                  <a:schemeClr val="bg2"/>
                </a:solidFill>
              </a:rPr>
              <a:t>Az állapot- és gazdasági jellemzők adták a legerősebb globális jelet.</a:t>
            </a:r>
          </a:p>
        </p:txBody>
      </p:sp>
      <p:sp>
        <p:nvSpPr>
          <p:cNvPr id="14" name="Google Shape;239;p46">
            <a:extLst>
              <a:ext uri="{FF2B5EF4-FFF2-40B4-BE49-F238E27FC236}">
                <a16:creationId xmlns:a16="http://schemas.microsoft.com/office/drawing/2014/main" id="{30DA2695-4F30-9E15-E6B0-C08336C695DD}"/>
              </a:ext>
            </a:extLst>
          </p:cNvPr>
          <p:cNvSpPr txBox="1">
            <a:spLocks/>
          </p:cNvSpPr>
          <p:nvPr/>
        </p:nvSpPr>
        <p:spPr>
          <a:xfrm>
            <a:off x="-201167" y="3299936"/>
            <a:ext cx="9143999" cy="54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 ExtraBold"/>
              <a:buNone/>
              <a:defRPr sz="1800" b="0" i="0" u="none" strike="noStrike" cap="none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hu-HU" sz="1600">
                <a:solidFill>
                  <a:schemeClr val="tx2"/>
                </a:solidFill>
              </a:rPr>
              <a:t>Az LSTM időbeli kontextusban részletesebb képet adott a körök dinamikájáról.</a:t>
            </a:r>
          </a:p>
        </p:txBody>
      </p:sp>
      <p:sp>
        <p:nvSpPr>
          <p:cNvPr id="17" name="Google Shape;239;p46">
            <a:extLst>
              <a:ext uri="{FF2B5EF4-FFF2-40B4-BE49-F238E27FC236}">
                <a16:creationId xmlns:a16="http://schemas.microsoft.com/office/drawing/2014/main" id="{A70CB740-6875-261B-A599-C46AEC655E0A}"/>
              </a:ext>
            </a:extLst>
          </p:cNvPr>
          <p:cNvSpPr txBox="1">
            <a:spLocks/>
          </p:cNvSpPr>
          <p:nvPr/>
        </p:nvSpPr>
        <p:spPr>
          <a:xfrm>
            <a:off x="489204" y="3973849"/>
            <a:ext cx="8842248" cy="54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 ExtraBold"/>
              <a:buNone/>
              <a:defRPr sz="1800" b="0" i="0" u="none" strike="noStrike" cap="none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hu-HU" sz="1600">
                <a:solidFill>
                  <a:schemeClr val="bg2"/>
                </a:solidFill>
              </a:rPr>
              <a:t>A két modell nem egymás helyett, hanem egymást kiegészítve volt hasznos.</a:t>
            </a:r>
          </a:p>
        </p:txBody>
      </p:sp>
      <p:sp>
        <p:nvSpPr>
          <p:cNvPr id="22" name="Google Shape;184;p40">
            <a:extLst>
              <a:ext uri="{FF2B5EF4-FFF2-40B4-BE49-F238E27FC236}">
                <a16:creationId xmlns:a16="http://schemas.microsoft.com/office/drawing/2014/main" id="{A42B7C35-AF4C-D57A-2407-F16534FB6140}"/>
              </a:ext>
            </a:extLst>
          </p:cNvPr>
          <p:cNvSpPr txBox="1">
            <a:spLocks/>
          </p:cNvSpPr>
          <p:nvPr/>
        </p:nvSpPr>
        <p:spPr>
          <a:xfrm>
            <a:off x="-174207" y="4740820"/>
            <a:ext cx="890637" cy="402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hu-HU" dirty="0"/>
              <a:t>18/19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49"/>
          <p:cNvSpPr txBox="1">
            <a:spLocks noGrp="1"/>
          </p:cNvSpPr>
          <p:nvPr>
            <p:ph type="ctrTitle"/>
          </p:nvPr>
        </p:nvSpPr>
        <p:spPr>
          <a:xfrm>
            <a:off x="0" y="1369000"/>
            <a:ext cx="9226296" cy="98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Köszönöm a figyelmet</a:t>
            </a:r>
            <a:endParaRPr/>
          </a:p>
        </p:txBody>
      </p:sp>
      <p:cxnSp>
        <p:nvCxnSpPr>
          <p:cNvPr id="275" name="Google Shape;275;p49"/>
          <p:cNvCxnSpPr>
            <a:cxnSpLocks/>
          </p:cNvCxnSpPr>
          <p:nvPr/>
        </p:nvCxnSpPr>
        <p:spPr>
          <a:xfrm>
            <a:off x="1234440" y="2176272"/>
            <a:ext cx="6793992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sp>
        <p:nvSpPr>
          <p:cNvPr id="7" name="Google Shape;184;p40">
            <a:extLst>
              <a:ext uri="{FF2B5EF4-FFF2-40B4-BE49-F238E27FC236}">
                <a16:creationId xmlns:a16="http://schemas.microsoft.com/office/drawing/2014/main" id="{7450B069-0C74-0975-0E5A-F2BF91606D85}"/>
              </a:ext>
            </a:extLst>
          </p:cNvPr>
          <p:cNvSpPr txBox="1">
            <a:spLocks/>
          </p:cNvSpPr>
          <p:nvPr/>
        </p:nvSpPr>
        <p:spPr>
          <a:xfrm>
            <a:off x="-174207" y="4740820"/>
            <a:ext cx="890637" cy="402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hu-HU" dirty="0"/>
              <a:t>19/19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uturistic Background by Slidesgo">
  <a:themeElements>
    <a:clrScheme name="Simple Light">
      <a:dk1>
        <a:srgbClr val="001633"/>
      </a:dk1>
      <a:lt1>
        <a:srgbClr val="FFFFFF"/>
      </a:lt1>
      <a:dk2>
        <a:srgbClr val="85D5E6"/>
      </a:dk2>
      <a:lt2>
        <a:srgbClr val="FFAB40"/>
      </a:lt2>
      <a:accent1>
        <a:srgbClr val="FFAB40"/>
      </a:accent1>
      <a:accent2>
        <a:srgbClr val="85D5E6"/>
      </a:accent2>
      <a:accent3>
        <a:srgbClr val="78909C"/>
      </a:accent3>
      <a:accent4>
        <a:srgbClr val="FFAB40"/>
      </a:accent4>
      <a:accent5>
        <a:srgbClr val="0097A7"/>
      </a:accent5>
      <a:accent6>
        <a:srgbClr val="001633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1680</TotalTime>
  <Words>533</Words>
  <Application>Microsoft Macintosh PowerPoint</Application>
  <PresentationFormat>Diavetítés a képernyőre (16:9 oldalarány)</PresentationFormat>
  <Paragraphs>138</Paragraphs>
  <Slides>19</Slides>
  <Notes>13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5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19</vt:i4>
      </vt:variant>
    </vt:vector>
  </HeadingPairs>
  <TitlesOfParts>
    <vt:vector size="25" baseType="lpstr">
      <vt:lpstr>Arial</vt:lpstr>
      <vt:lpstr>Montserrat ExtraBold</vt:lpstr>
      <vt:lpstr>Andale Mono</vt:lpstr>
      <vt:lpstr>-apple-system</vt:lpstr>
      <vt:lpstr>Montserrat</vt:lpstr>
      <vt:lpstr>Futuristic Background by Slidesgo</vt:lpstr>
      <vt:lpstr>Esport anailitka CS2 meccsadatokon</vt:lpstr>
      <vt:lpstr>PowerPoint-bemutató</vt:lpstr>
      <vt:lpstr> Adatforrás</vt:lpstr>
      <vt:lpstr>A főbb jellemzőtípusok</vt:lpstr>
      <vt:lpstr>Feltáró adatelmzés</vt:lpstr>
      <vt:lpstr>PowerPoint-bemutató</vt:lpstr>
      <vt:lpstr>PowerPoint-bemutató</vt:lpstr>
      <vt:lpstr>LSTM</vt:lpstr>
      <vt:lpstr>Train-Validation-Test split</vt:lpstr>
      <vt:lpstr>Hiperparaméter optimalizálás</vt:lpstr>
      <vt:lpstr>Első XGBOOST modellek</vt:lpstr>
      <vt:lpstr>Eredmények</vt:lpstr>
      <vt:lpstr>Következtetés</vt:lpstr>
      <vt:lpstr>LSTM</vt:lpstr>
      <vt:lpstr>LSTM Explainability ridge regression-nel</vt:lpstr>
      <vt:lpstr>PowerPoint-bemutató</vt:lpstr>
      <vt:lpstr>Az LSTM részletesebben tudta megragadni a körön belüli időbeli összefüggéseket.</vt:lpstr>
      <vt:lpstr>Összefoglalás, végső gondolatok</vt:lpstr>
      <vt:lpstr>Köszönöm a figyelmet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Béres Noémi</cp:lastModifiedBy>
  <cp:revision>9</cp:revision>
  <dcterms:modified xsi:type="dcterms:W3CDTF">2026-05-28T21:42:27Z</dcterms:modified>
</cp:coreProperties>
</file>